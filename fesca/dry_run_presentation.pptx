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7" r:id="rId2"/>
    <p:sldId id="375" r:id="rId3"/>
    <p:sldId id="373" r:id="rId4"/>
    <p:sldId id="376" r:id="rId5"/>
    <p:sldId id="377" r:id="rId6"/>
    <p:sldId id="382" r:id="rId7"/>
    <p:sldId id="392" r:id="rId8"/>
    <p:sldId id="406" r:id="rId9"/>
    <p:sldId id="407" r:id="rId10"/>
    <p:sldId id="268" r:id="rId11"/>
    <p:sldId id="271" r:id="rId12"/>
    <p:sldId id="272" r:id="rId13"/>
    <p:sldId id="273" r:id="rId14"/>
    <p:sldId id="408" r:id="rId15"/>
    <p:sldId id="400" r:id="rId16"/>
    <p:sldId id="401" r:id="rId17"/>
    <p:sldId id="404" r:id="rId18"/>
    <p:sldId id="405" r:id="rId19"/>
    <p:sldId id="396" r:id="rId20"/>
    <p:sldId id="397" r:id="rId21"/>
    <p:sldId id="398" r:id="rId22"/>
    <p:sldId id="399" r:id="rId23"/>
    <p:sldId id="409" r:id="rId24"/>
    <p:sldId id="410" r:id="rId25"/>
    <p:sldId id="411" r:id="rId26"/>
    <p:sldId id="414" r:id="rId27"/>
    <p:sldId id="413" r:id="rId28"/>
    <p:sldId id="415" r:id="rId29"/>
    <p:sldId id="416" r:id="rId30"/>
    <p:sldId id="418" r:id="rId31"/>
    <p:sldId id="417" r:id="rId32"/>
    <p:sldId id="419" r:id="rId33"/>
    <p:sldId id="265" r:id="rId34"/>
    <p:sldId id="420" r:id="rId3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F2F2F0"/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BC819-E796-4DBA-8E01-60D525A9733E}" v="338" dt="2025-09-12T05:56:26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37"/>
    <p:restoredTop sz="94599"/>
  </p:normalViewPr>
  <p:slideViewPr>
    <p:cSldViewPr showGuides="1">
      <p:cViewPr>
        <p:scale>
          <a:sx n="53" d="100"/>
          <a:sy n="53" d="100"/>
        </p:scale>
        <p:origin x="2765" y="144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E2774-FCC6-3849-815E-3669A8972351}" type="datetime1">
              <a:rPr lang="en-US" smtClean="0">
                <a:solidFill>
                  <a:srgbClr val="898989"/>
                </a:solidFill>
              </a:rPr>
              <a:t>9/12/2025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Cysec | Applied Cryptography | Mimoun Mendoughe</a:t>
            </a:r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‹#›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228B3F5-F5F5-CC46-AC69-D894EEABD123}" type="datetime1">
              <a:rPr lang="en-US" smtClean="0"/>
              <a:t>9/12/2025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Cysec | Applied Cryptography | Mimoun Mendoughe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C70A-F0F4-6706-CE7C-F5118EEA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8BE9-08C5-8D25-E384-A937D65D9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977D7-DA2A-A4F8-2418-FBE6B23D9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7D30-9327-66EB-6D32-992CEC25BF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BBFA-0BBE-0BE4-E00B-34539BB40E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D0883-9BB4-315A-E9AA-4DA1FC7B2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1181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02A1-AB78-9539-06C2-0B4C4D13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4C1E9-E136-E8C2-FDE2-9D22D418E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B91FB-EDEE-7565-91A9-15EA52865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CFDD-3B77-4EEC-B6B6-21E765E1B3B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E3550-4BAE-AECB-BD61-12956C8811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D9A2B-DC2B-5D8B-8053-2DD504D8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220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1C90-AB26-52A7-1C37-E507DEF9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F49FD-6455-CB1F-9CC6-A4D5CF56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6A906-B551-68B2-3781-AB461E076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502CE-51F4-7C7F-3E14-9FE7D29FFC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1167-94F6-C8C8-DDAA-DC847A17B1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3538-2BCF-CF37-57E2-F6F6B31C7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58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F7BB-98BD-AD39-4DC7-EE2245F3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1F473-8B14-3326-771C-52BF1901B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B8216-DC4E-43FB-374F-DA44F0EC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62B8B-2420-0DE6-0816-77F5B31B915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433E5-E38B-16B8-50CE-BF68E100D2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44F4-8D6F-6584-F780-47AA7AD58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01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7859-1083-8495-D54C-0CCC7EC8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A898A-AF5A-968A-43F3-F0BB5285A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448D5-6C10-FDCE-8FB9-12280B8A4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91B6D-BB88-1B69-7A7F-4559F7E506D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54B3-232D-D6E5-2C41-F92083490D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C2FB2-682C-55F8-833B-DB0C9D5B5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74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8687-AC42-543E-C711-537C825A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AE1C4-EC45-18C2-E954-109FB6986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049E0-DD94-6368-9521-12F893C0F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1C6A6-68D0-A10E-CA9D-C48950825C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75D4-BFAA-D7DC-0735-0F5739ECDF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06418-422A-7056-F50A-98C4FF1F8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170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CDE3-25D0-D740-9F09-CADC0F3D7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0B18F-33D9-99D3-0F30-158C54E76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CCD6F-F40F-810F-0EE9-ECA94E5C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5C45-A657-2EA4-A4C9-8B13091BE7D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BFBA-DA60-EB3D-0C51-16C9E2B784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9C313-DAE9-0DC5-A8E9-CCB90ABD64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7847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FE7F0-9663-FA07-AC65-9B769E91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6A267-CEDB-4842-E3B0-2A40708A0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7C75A-6916-C872-3678-81CFF64F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B833-14C0-2A66-70B3-CD205414DE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C20BA5-D171-1348-AA37-FD042C57D76F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C1D94-7113-26ED-A501-D1136D59B6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F750A-0449-7444-2DF8-4FDD3EECE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6109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228B3F5-F5F5-CC46-AC69-D894EEABD123}" type="datetime1">
              <a:rPr lang="en-US" smtClean="0"/>
              <a:t>9/12/2025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Cysec | Applied Cryptography | Mimoun Mendoughe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440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18041-7462-4497-839E-501727F946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8A71-A3AD-E94E-9264-0537EFB9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818F9-E1C8-5660-5E0E-E1C5951A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86294-496B-43CC-AAD9-6D12554B34CC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52EAD5-418E-8002-E5A1-1A462C8C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93920-E015-C12D-0E28-A4C70244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653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47A1A-2F89-433D-A732-D122FBEF72B4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FD5DD2-BC1A-4C9C-81FC-0D336EF99937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B7E7-F067-457C-BA04-DEDD669A889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E8D-0739-4C28-BB97-1D61527BFECF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B8D1-90B3-4E44-893B-392224B51B52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FD3D-D8C4-4102-9424-20C07C0FDF43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68747-4636-4AA2-B913-FB458803DE32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86294-496B-43CC-AAD9-6D12554B34CC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FB 20 Computer Science | Systems Lab | Darya Igonina &amp; Mimoun </a:t>
            </a:r>
            <a:r>
              <a:rPr lang="de-DE" dirty="0" err="1"/>
              <a:t>Mendoughe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9" r:id="rId3"/>
    <p:sldLayoutId id="2147483665" r:id="rId4"/>
    <p:sldLayoutId id="2147483666" r:id="rId5"/>
    <p:sldLayoutId id="2147483650" r:id="rId6"/>
    <p:sldLayoutId id="2147483651" r:id="rId7"/>
    <p:sldLayoutId id="2147483667" r:id="rId8"/>
    <p:sldLayoutId id="2147483668" r:id="rId9"/>
    <p:sldLayoutId id="2147483661" r:id="rId10"/>
    <p:sldLayoutId id="2147483654" r:id="rId11"/>
    <p:sldLayoutId id="2147483655" r:id="rId12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6.svg"/><Relationship Id="rId5" Type="http://schemas.openxmlformats.org/officeDocument/2006/relationships/tags" Target="../tags/tag5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.svg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20.png"/><Relationship Id="rId17" Type="http://schemas.openxmlformats.org/officeDocument/2006/relationships/image" Target="../media/image7.svg"/><Relationship Id="rId2" Type="http://schemas.openxmlformats.org/officeDocument/2006/relationships/tags" Target="../tags/tag8.xml"/><Relationship Id="rId16" Type="http://schemas.openxmlformats.org/officeDocument/2006/relationships/image" Target="../media/image6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9.svg"/><Relationship Id="rId5" Type="http://schemas.openxmlformats.org/officeDocument/2006/relationships/tags" Target="../tags/tag11.xml"/><Relationship Id="rId15" Type="http://schemas.openxmlformats.org/officeDocument/2006/relationships/image" Target="../media/image5.svg"/><Relationship Id="rId10" Type="http://schemas.openxmlformats.org/officeDocument/2006/relationships/image" Target="../media/image17.png"/><Relationship Id="rId4" Type="http://schemas.openxmlformats.org/officeDocument/2006/relationships/tags" Target="../tags/tag10.xml"/><Relationship Id="rId9" Type="http://schemas.openxmlformats.org/officeDocument/2006/relationships/image" Target="../media/image16.svg"/><Relationship Id="rId1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6.png"/><Relationship Id="rId3" Type="http://schemas.openxmlformats.org/officeDocument/2006/relationships/tags" Target="../tags/tag15.xml"/><Relationship Id="rId7" Type="http://schemas.openxmlformats.org/officeDocument/2006/relationships/image" Target="../media/image15.png"/><Relationship Id="rId12" Type="http://schemas.openxmlformats.org/officeDocument/2006/relationships/image" Target="../media/image5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tags" Target="../tags/tag17.xml"/><Relationship Id="rId10" Type="http://schemas.openxmlformats.org/officeDocument/2006/relationships/image" Target="../media/image19.svg"/><Relationship Id="rId4" Type="http://schemas.openxmlformats.org/officeDocument/2006/relationships/tags" Target="../tags/tag16.xml"/><Relationship Id="rId9" Type="http://schemas.openxmlformats.org/officeDocument/2006/relationships/image" Target="../media/image17.png"/><Relationship Id="rId1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.svg"/><Relationship Id="rId3" Type="http://schemas.openxmlformats.org/officeDocument/2006/relationships/tags" Target="../tags/tag20.xml"/><Relationship Id="rId7" Type="http://schemas.openxmlformats.org/officeDocument/2006/relationships/image" Target="../media/image16.svg"/><Relationship Id="rId12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5.png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tags" Target="../tags/tag21.xml"/><Relationship Id="rId9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23.xml"/><Relationship Id="rId16" Type="http://schemas.openxmlformats.org/officeDocument/2006/relationships/image" Target="../media/image6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16.svg"/><Relationship Id="rId5" Type="http://schemas.openxmlformats.org/officeDocument/2006/relationships/tags" Target="../tags/tag26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25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35.xml"/><Relationship Id="rId7" Type="http://schemas.openxmlformats.org/officeDocument/2006/relationships/image" Target="../media/image16.sv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6.xml"/><Relationship Id="rId9" Type="http://schemas.openxmlformats.org/officeDocument/2006/relationships/image" Target="../media/image1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tags" Target="../tags/tag39.xml"/><Relationship Id="rId7" Type="http://schemas.openxmlformats.org/officeDocument/2006/relationships/image" Target="../media/image15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8.svg"/><Relationship Id="rId4" Type="http://schemas.openxmlformats.org/officeDocument/2006/relationships/tags" Target="../tags/tag40.xml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7.png"/><Relationship Id="rId17" Type="http://schemas.openxmlformats.org/officeDocument/2006/relationships/image" Target="../media/image7.svg"/><Relationship Id="rId2" Type="http://schemas.openxmlformats.org/officeDocument/2006/relationships/tags" Target="../tags/tag42.xml"/><Relationship Id="rId16" Type="http://schemas.openxmlformats.org/officeDocument/2006/relationships/image" Target="../media/image6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6.svg"/><Relationship Id="rId5" Type="http://schemas.openxmlformats.org/officeDocument/2006/relationships/tags" Target="../tags/tag45.xml"/><Relationship Id="rId15" Type="http://schemas.openxmlformats.org/officeDocument/2006/relationships/image" Target="../media/image5.svg"/><Relationship Id="rId10" Type="http://schemas.openxmlformats.org/officeDocument/2006/relationships/image" Target="../media/image15.png"/><Relationship Id="rId4" Type="http://schemas.openxmlformats.org/officeDocument/2006/relationships/tags" Target="../tags/tag44.xml"/><Relationship Id="rId9" Type="http://schemas.openxmlformats.org/officeDocument/2006/relationships/image" Target="../media/image14.svg"/><Relationship Id="rId1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9.xml"/><Relationship Id="rId7" Type="http://schemas.openxmlformats.org/officeDocument/2006/relationships/image" Target="../media/image5.sv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50.xml"/><Relationship Id="rId9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tags" Target="../tags/tag52.xml"/><Relationship Id="rId16" Type="http://schemas.openxmlformats.org/officeDocument/2006/relationships/image" Target="../media/image7.svg"/><Relationship Id="rId1" Type="http://schemas.openxmlformats.org/officeDocument/2006/relationships/tags" Target="../tags/tag51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7.png"/><Relationship Id="rId5" Type="http://schemas.openxmlformats.org/officeDocument/2006/relationships/tags" Target="../tags/tag55.xml"/><Relationship Id="rId15" Type="http://schemas.openxmlformats.org/officeDocument/2006/relationships/image" Target="../media/image6.png"/><Relationship Id="rId10" Type="http://schemas.openxmlformats.org/officeDocument/2006/relationships/image" Target="../media/image16.svg"/><Relationship Id="rId4" Type="http://schemas.openxmlformats.org/officeDocument/2006/relationships/tags" Target="../tags/tag54.xml"/><Relationship Id="rId9" Type="http://schemas.openxmlformats.org/officeDocument/2006/relationships/image" Target="../media/image15.png"/><Relationship Id="rId14" Type="http://schemas.openxmlformats.org/officeDocument/2006/relationships/image" Target="../media/image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4.png"/><Relationship Id="rId3" Type="http://schemas.openxmlformats.org/officeDocument/2006/relationships/tags" Target="../tags/tag58.xml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tags" Target="../tags/tag57.xml"/><Relationship Id="rId16" Type="http://schemas.openxmlformats.org/officeDocument/2006/relationships/image" Target="../media/image7.svg"/><Relationship Id="rId1" Type="http://schemas.openxmlformats.org/officeDocument/2006/relationships/tags" Target="../tags/tag5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7.png"/><Relationship Id="rId5" Type="http://schemas.openxmlformats.org/officeDocument/2006/relationships/tags" Target="../tags/tag60.xml"/><Relationship Id="rId15" Type="http://schemas.openxmlformats.org/officeDocument/2006/relationships/image" Target="../media/image6.png"/><Relationship Id="rId10" Type="http://schemas.openxmlformats.org/officeDocument/2006/relationships/image" Target="../media/image16.svg"/><Relationship Id="rId4" Type="http://schemas.openxmlformats.org/officeDocument/2006/relationships/tags" Target="../tags/tag59.xml"/><Relationship Id="rId9" Type="http://schemas.openxmlformats.org/officeDocument/2006/relationships/image" Target="../media/image15.png"/><Relationship Id="rId14" Type="http://schemas.openxmlformats.org/officeDocument/2006/relationships/image" Target="../media/image5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6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29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28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6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2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6.png"/><Relationship Id="rId3" Type="http://schemas.openxmlformats.org/officeDocument/2006/relationships/tags" Target="../tags/tag74.xml"/><Relationship Id="rId7" Type="http://schemas.openxmlformats.org/officeDocument/2006/relationships/image" Target="../media/image15.png"/><Relationship Id="rId12" Type="http://schemas.openxmlformats.org/officeDocument/2006/relationships/image" Target="../media/image5.sv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4.png"/><Relationship Id="rId5" Type="http://schemas.openxmlformats.org/officeDocument/2006/relationships/tags" Target="../tags/tag76.xml"/><Relationship Id="rId10" Type="http://schemas.openxmlformats.org/officeDocument/2006/relationships/image" Target="../media/image19.svg"/><Relationship Id="rId4" Type="http://schemas.openxmlformats.org/officeDocument/2006/relationships/tags" Target="../tags/tag75.xml"/><Relationship Id="rId9" Type="http://schemas.openxmlformats.org/officeDocument/2006/relationships/image" Target="../media/image17.png"/><Relationship Id="rId14" Type="http://schemas.openxmlformats.org/officeDocument/2006/relationships/image" Target="../media/image7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.svg"/><Relationship Id="rId3" Type="http://schemas.openxmlformats.org/officeDocument/2006/relationships/tags" Target="../tags/tag79.xml"/><Relationship Id="rId7" Type="http://schemas.openxmlformats.org/officeDocument/2006/relationships/image" Target="../media/image16.svg"/><Relationship Id="rId12" Type="http://schemas.openxmlformats.org/officeDocument/2006/relationships/image" Target="../media/image6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15.png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tags" Target="../tags/tag80.xml"/><Relationship Id="rId9" Type="http://schemas.openxmlformats.org/officeDocument/2006/relationships/image" Target="../media/image23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enix.org/system/files/nsdi23-liagouris.pdf" TargetMode="External"/><Relationship Id="rId3" Type="http://schemas.openxmlformats.org/officeDocument/2006/relationships/tags" Target="../tags/tag83.xml"/><Relationship Id="rId7" Type="http://schemas.openxmlformats.org/officeDocument/2006/relationships/image" Target="../media/image34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219B-1747-5FC8-BF94-9177D9ED2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3069000"/>
            <a:ext cx="9360000" cy="1080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Framework for efficient Secure Collaborative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213EB-E881-AA5F-8DB0-E318BB9C3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4351379"/>
            <a:ext cx="9360000" cy="1468800"/>
          </a:xfrm>
        </p:spPr>
        <p:txBody>
          <a:bodyPr/>
          <a:lstStyle/>
          <a:p>
            <a:r>
              <a:rPr lang="en-US" dirty="0"/>
              <a:t>Mimoun Mendoughe &amp; Darya Igonina</a:t>
            </a:r>
          </a:p>
          <a:p>
            <a:r>
              <a:rPr lang="en-US" sz="1400" dirty="0"/>
              <a:t>Supervisors: Long Gu &amp; Shaza Zeitouni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7E4A-B65E-BF8A-D585-D1A3A886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5B92-C0A4-4291-B7E8-22FD2BA427BE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B324C-BB9E-C4EC-8243-3172BDA6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13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6F69-EA99-B776-C46A-CCCBC31F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C31F-2DCC-1D2A-C3A4-062E0203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CFB0E-C7D7-2243-1D53-93B2791421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68295-A4BB-5016-8886-5C2D19E8D6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5188EEA3-ADC2-4940-7829-1EA9A7ADD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FBD789E7-DA82-C732-80F3-7B5576D357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7356A3ED-5CCE-A04C-B8CB-90701B6D8A0B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0F08F7B8-8F07-D788-892A-28BBE96E11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80D4AAF9-06BC-6FB8-3997-69CC9ACC0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97B125FD-9958-4C7A-F42D-6DBAE1921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3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5D5D442-5EF0-E595-3D43-FD5E52C323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FA2CFF1-413B-CD24-5949-931FCF7332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A4C51F41-16A9-9C84-3138-91963F6A4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36000" y="44409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905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A680-9605-D7BF-A6E6-BF99DC45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176D-E415-4CCE-C132-A617B3BF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72378-58D1-ED0B-B0CE-A8DA15AEA8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77CAE-D354-AE2F-D738-7C1555B92E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E67FA517-F671-7FD7-4D75-37E6BC86B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A46A6C49-54FA-2AFF-E423-BD33574252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5D07392B-6557-3A24-76D3-E8B86AF3EA41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B0FB00E-492F-8E3A-1DD8-D149374332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AE4F8DF-34E7-D3E2-B234-60E121A073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EC555330-D30C-9228-B757-5F620F952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01F2EB9B-4CBD-E3DB-2B72-786F7E41BA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A2274E-FD04-7FD6-08EC-204C77DAFC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ADCF69C-F67B-3F53-D4DC-389CFB7C5D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51A5CEE-D252-9698-2A96-D767BD19F93A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9F0966A7-18FE-B482-8F67-0C435D3C38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7029000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E30233-D122-106D-4717-0821BFC999C6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94501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B449-C30D-EA75-4F8A-CF741D36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D1B2-D245-2157-8672-6446591A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A576-274F-F608-C136-2ADA5889FE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318EF-6329-F5B8-D164-866B9A6D0F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1F5B25DF-84CA-8FCB-1951-A5E8BB9BB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14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198EC112-7C5D-20E0-EF2A-5551104A8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301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22679001-CA48-3B60-DB32-2DEC67E62B83}"/>
              </a:ext>
            </a:extLst>
          </p:cNvPr>
          <p:cNvSpPr/>
          <p:nvPr/>
        </p:nvSpPr>
        <p:spPr>
          <a:xfrm>
            <a:off x="242111" y="2509227"/>
            <a:ext cx="2160000" cy="1080000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 Let’s do medical research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AA7FAAF2-A0F7-231D-A66D-ED01F2D7B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EB325D22-877A-E426-A6BD-2C8ADA1219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2E5962EF-CD0E-F926-D2E5-38A2D2C3A2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0082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D112B319-FD01-79B0-9E0D-746F6A97B9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8976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E21066EC-3627-87E8-6E21-499BA8D93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4BB23C14-9B3B-B15A-61EE-868BD03628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96000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E523E63-1A02-F317-F45F-F932649C7E69}"/>
              </a:ext>
            </a:extLst>
          </p:cNvPr>
          <p:cNvSpPr/>
          <p:nvPr/>
        </p:nvSpPr>
        <p:spPr>
          <a:xfrm>
            <a:off x="2402111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EAE6083-502D-984C-BBA7-149EBA4567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00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FDC77-CB5C-9B16-E784-4FBBDF737A69}"/>
              </a:ext>
            </a:extLst>
          </p:cNvPr>
          <p:cNvSpPr txBox="1"/>
          <p:nvPr/>
        </p:nvSpPr>
        <p:spPr>
          <a:xfrm>
            <a:off x="2260563" y="3607515"/>
            <a:ext cx="2202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Regular SQL Query</a:t>
            </a:r>
          </a:p>
        </p:txBody>
      </p:sp>
    </p:spTree>
    <p:extLst>
      <p:ext uri="{BB962C8B-B14F-4D97-AF65-F5344CB8AC3E}">
        <p14:creationId xmlns:p14="http://schemas.microsoft.com/office/powerpoint/2010/main" val="1459316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991E-F4E2-F3CC-E3FA-72EB61E2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47B5-5A43-6548-F336-467ED82C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14BA-8B9D-0A8D-BB38-3106395BF2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4CB5-2562-79BB-B314-576346AB0C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9" name="Graphic 8" descr="Doctor male outline">
            <a:extLst>
              <a:ext uri="{FF2B5EF4-FFF2-40B4-BE49-F238E27FC236}">
                <a16:creationId xmlns:a16="http://schemas.microsoft.com/office/drawing/2014/main" id="{76B68078-7DEB-DC12-531E-D047EFF38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3189" y="3774594"/>
            <a:ext cx="1332811" cy="1332811"/>
          </a:xfrm>
          <a:prstGeom prst="rect">
            <a:avLst/>
          </a:prstGeom>
        </p:spPr>
      </p:pic>
      <p:pic>
        <p:nvPicPr>
          <p:cNvPr id="12" name="Graphic 11" descr="Doctor female outline">
            <a:extLst>
              <a:ext uri="{FF2B5EF4-FFF2-40B4-BE49-F238E27FC236}">
                <a16:creationId xmlns:a16="http://schemas.microsoft.com/office/drawing/2014/main" id="{45EE58D1-93BC-4BA0-E5CC-9C21216FA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2776" y="3779259"/>
            <a:ext cx="1332810" cy="1332810"/>
          </a:xfrm>
          <a:prstGeom prst="rect">
            <a:avLst/>
          </a:prstGeom>
        </p:spPr>
      </p:pic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F3F52864-1660-3763-87CA-5AD634C4CA40}"/>
              </a:ext>
            </a:extLst>
          </p:cNvPr>
          <p:cNvSpPr/>
          <p:nvPr/>
        </p:nvSpPr>
        <p:spPr>
          <a:xfrm>
            <a:off x="4895586" y="2509227"/>
            <a:ext cx="2160000" cy="1080000"/>
          </a:xfrm>
          <a:prstGeom prst="wedge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Well can we get statistics ?</a:t>
            </a:r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C683F690-EF3D-7B85-97BA-D4EC1F588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6D510227-3670-D725-E7B1-F1EE741CBC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1A71F3B-3EEE-95AD-2148-A4CD736D6A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B7CA7BA0-377C-20E9-3083-7358FFC441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5A28B93-0183-F984-E3B2-2E03BF237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D26944E5-ADE7-FD21-53F6-E81F32A20E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24560B5-E13A-282A-029B-C436EA17E374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6A1E41C8-B396-4422-CE49-40786B3AB0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10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5721-78EF-8E7F-8B46-CE8D13F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DE0E27-0E1F-4B5B-73C3-F2028FE1B45A}"/>
              </a:ext>
            </a:extLst>
          </p:cNvPr>
          <p:cNvSpPr/>
          <p:nvPr/>
        </p:nvSpPr>
        <p:spPr>
          <a:xfrm>
            <a:off x="611442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E0CF2-E90B-068C-BC0C-3F51E6799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8A74-E0BC-131A-49EB-00FE4E96F3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06E7-B6A3-7DE2-BA31-5C65F8C415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276CCFE-5797-A5A1-862D-107C8791E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E471810-D85C-30AE-5E57-B54A42B48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4333390F-99CA-3FA0-9503-A438AADCE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FD86D245-19AA-D75A-09F8-BB4BF06EE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B4D8C392-8AC6-1559-3791-4A1C6F1522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8D39B635-F9FB-F52F-AAE7-95CF942CE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0DA5547-EB90-1AEA-AFE7-0DD25F9AB55F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F8A6E795-E8EC-9EC7-BECE-835886F23D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894758-A0B5-AE15-00F2-E21D82D31A4B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5DA70-21E1-5783-F435-B66FBA4F15B1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</p:spTree>
    <p:extLst>
      <p:ext uri="{BB962C8B-B14F-4D97-AF65-F5344CB8AC3E}">
        <p14:creationId xmlns:p14="http://schemas.microsoft.com/office/powerpoint/2010/main" val="1400756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5D78-BE42-9619-8154-5A8BDB19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32B9051-0276-F638-A795-A8A9CFC5BF53}"/>
              </a:ext>
            </a:extLst>
          </p:cNvPr>
          <p:cNvSpPr/>
          <p:nvPr/>
        </p:nvSpPr>
        <p:spPr>
          <a:xfrm>
            <a:off x="8361413" y="2349000"/>
            <a:ext cx="2377101" cy="209199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D2E33-6BC1-D710-47F0-C8D2835D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C6BE7-7E93-4191-855B-87EEF195F3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4DBF-B91D-0354-2245-EBBDFE8D6E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8475D17-27B7-D21D-E38A-228A1C807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D372727B-9416-8538-22EA-935C0DCDA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69B2EE5B-6D87-7A9F-F628-ECC2A0C7A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9C78A2E4-CBDD-7ABF-01A5-8AF379B6E8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0ACA18B-4CA8-EA99-3982-64EF2C5FA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EDB5E4B7-90AB-7CE6-0798-050F5C3C3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BCBC1CB-EBEC-7819-41B1-57DEB92AEC1A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3C340813-D453-B15F-5768-E9F1A9074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203E23-29D9-30F2-FBA6-7790DEB6192F}"/>
              </a:ext>
            </a:extLst>
          </p:cNvPr>
          <p:cNvSpPr txBox="1"/>
          <p:nvPr/>
        </p:nvSpPr>
        <p:spPr>
          <a:xfrm>
            <a:off x="611442" y="268667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E1C22C-6819-C479-61B4-66CF5741F27C}"/>
              </a:ext>
            </a:extLst>
          </p:cNvPr>
          <p:cNvSpPr txBox="1"/>
          <p:nvPr/>
        </p:nvSpPr>
        <p:spPr>
          <a:xfrm>
            <a:off x="8541095" y="2644971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CF244-72EE-CB0D-4FF0-BDA9B775F88F}"/>
              </a:ext>
            </a:extLst>
          </p:cNvPr>
          <p:cNvSpPr/>
          <p:nvPr/>
        </p:nvSpPr>
        <p:spPr>
          <a:xfrm>
            <a:off x="431759" y="2434253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78ECA-D22B-2AD8-F4DB-78939B536B78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3F10E-D080-139D-3F79-F192F7D597E7}"/>
              </a:ext>
            </a:extLst>
          </p:cNvPr>
          <p:cNvSpPr/>
          <p:nvPr/>
        </p:nvSpPr>
        <p:spPr>
          <a:xfrm>
            <a:off x="611442" y="8888546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56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1D18-953D-6C3C-419A-3B0C40AD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98FED28-606D-2D8D-8C2E-4F4CFA9F9D5F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1F12D-F0FB-B07E-4D55-9C245369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16246-0FC4-3EF2-EE58-CD1385B003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A592-0238-50B4-BA6A-E39942DA09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78E0D94D-1145-33EE-FCE4-CF911B7AC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0AF50812-034F-8B66-F7CE-61BB9A59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88BD0CE8-9D9A-5663-D21B-3DD94AA0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88B10D13-D0A3-6A48-7300-9775D548E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87E9912D-2733-D858-2258-8CB6E975DA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7E8962B-29B8-B7C0-8382-5347A8BFD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5878402D-E19D-4138-9327-6112421EA8CB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DF8182FA-C1BF-DB0E-BD11-CB4250B4CE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67726-EC10-D783-0B08-CDE40BEB1116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5B026F-BEB4-615D-3685-B68F787B0893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63A3B-DCF0-03B7-7F3A-E75761315CF2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01726-AF1C-3F53-F21D-C62825D61C7B}"/>
              </a:ext>
            </a:extLst>
          </p:cNvPr>
          <p:cNvSpPr/>
          <p:nvPr/>
        </p:nvSpPr>
        <p:spPr>
          <a:xfrm>
            <a:off x="558621" y="11024528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359AA7-FC24-7369-D13C-480550764986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7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F543-3F86-C779-3FBE-3C01E1B7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7DFE46-4BC5-BA45-3CF2-A27C64602356}"/>
              </a:ext>
            </a:extLst>
          </p:cNvPr>
          <p:cNvSpPr/>
          <p:nvPr/>
        </p:nvSpPr>
        <p:spPr>
          <a:xfrm>
            <a:off x="8361413" y="1108092"/>
            <a:ext cx="2377101" cy="209199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3B1E-64A9-919A-45F3-343CFD99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89000"/>
            <a:ext cx="8616000" cy="914400"/>
          </a:xfrm>
        </p:spPr>
        <p:txBody>
          <a:bodyPr>
            <a:normAutofit/>
          </a:bodyPr>
          <a:lstStyle/>
          <a:p>
            <a:r>
              <a:rPr lang="en-US" sz="2400" dirty="0"/>
              <a:t>Goal of THE framework: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F620-050E-E273-4AAA-74153E86B6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8CFA65-AD0D-EF4A-AB57-095A788EB0C2}" type="datetime1">
              <a:rPr lang="en-US" smtClean="0"/>
              <a:t>9/12/2025</a:t>
            </a:fld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4BA49-AE8C-2040-C381-16C13EEFCD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15" name="Graphic 14" descr="Hospital with solid fill">
            <a:extLst>
              <a:ext uri="{FF2B5EF4-FFF2-40B4-BE49-F238E27FC236}">
                <a16:creationId xmlns:a16="http://schemas.microsoft.com/office/drawing/2014/main" id="{DDC03648-9975-692B-2CA6-7B54F5FA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1816682"/>
            <a:ext cx="914400" cy="914400"/>
          </a:xfrm>
          <a:prstGeom prst="rect">
            <a:avLst/>
          </a:prstGeom>
        </p:spPr>
      </p:pic>
      <p:pic>
        <p:nvPicPr>
          <p:cNvPr id="16" name="Graphic 15" descr="Hospital with solid fill">
            <a:extLst>
              <a:ext uri="{FF2B5EF4-FFF2-40B4-BE49-F238E27FC236}">
                <a16:creationId xmlns:a16="http://schemas.microsoft.com/office/drawing/2014/main" id="{5501E752-7E86-4C9A-A799-EB27F7CDD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3110237"/>
            <a:ext cx="914400" cy="914400"/>
          </a:xfrm>
          <a:prstGeom prst="rect">
            <a:avLst/>
          </a:prstGeom>
        </p:spPr>
      </p:pic>
      <p:pic>
        <p:nvPicPr>
          <p:cNvPr id="17" name="Graphic 16" descr="Hospital with solid fill">
            <a:extLst>
              <a:ext uri="{FF2B5EF4-FFF2-40B4-BE49-F238E27FC236}">
                <a16:creationId xmlns:a16="http://schemas.microsoft.com/office/drawing/2014/main" id="{BA28801B-57D7-344C-34EE-E139FDA11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6000" y="4287213"/>
            <a:ext cx="914400" cy="914400"/>
          </a:xfrm>
          <a:prstGeom prst="rect">
            <a:avLst/>
          </a:prstGeom>
        </p:spPr>
      </p:pic>
      <p:pic>
        <p:nvPicPr>
          <p:cNvPr id="5" name="Graphic 4" descr="Database outline">
            <a:extLst>
              <a:ext uri="{FF2B5EF4-FFF2-40B4-BE49-F238E27FC236}">
                <a16:creationId xmlns:a16="http://schemas.microsoft.com/office/drawing/2014/main" id="{40D438D5-2E4F-00B0-CA17-77D110AE1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4894" y="1870988"/>
            <a:ext cx="914400" cy="914400"/>
          </a:xfrm>
          <a:prstGeom prst="rect">
            <a:avLst/>
          </a:prstGeo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F9CB21DF-2D82-8D50-9DC0-CE07D82C3C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3132027"/>
            <a:ext cx="914400" cy="914400"/>
          </a:xfrm>
          <a:prstGeom prst="rect">
            <a:avLst/>
          </a:prstGeom>
        </p:spPr>
      </p:pic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193236D1-E52A-6171-42A0-BFBABF499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01918" y="4440999"/>
            <a:ext cx="914400" cy="914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9231231-30FA-E239-D8DC-59A1AE6CB336}"/>
              </a:ext>
            </a:extLst>
          </p:cNvPr>
          <p:cNvSpPr/>
          <p:nvPr/>
        </p:nvSpPr>
        <p:spPr>
          <a:xfrm>
            <a:off x="13908029" y="4024637"/>
            <a:ext cx="1893889" cy="262576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circular blue circle with yellow stars in center&#10;&#10;AI-generated content may be incorrect.">
            <a:extLst>
              <a:ext uri="{FF2B5EF4-FFF2-40B4-BE49-F238E27FC236}">
                <a16:creationId xmlns:a16="http://schemas.microsoft.com/office/drawing/2014/main" id="{1AE81AC5-C33B-2036-1A86-8936F9E585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918" y="2423039"/>
            <a:ext cx="2615111" cy="2615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47A8DC-9ABC-C837-9840-99BD86B5B883}"/>
              </a:ext>
            </a:extLst>
          </p:cNvPr>
          <p:cNvSpPr txBox="1"/>
          <p:nvPr/>
        </p:nvSpPr>
        <p:spPr>
          <a:xfrm>
            <a:off x="611442" y="1445765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aggregates across multiple databases without exposing individual records.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9B74C-ECBB-DCDF-B2F7-63C6F9E44029}"/>
              </a:ext>
            </a:extLst>
          </p:cNvPr>
          <p:cNvSpPr txBox="1"/>
          <p:nvPr/>
        </p:nvSpPr>
        <p:spPr>
          <a:xfrm>
            <a:off x="8541095" y="1404063"/>
            <a:ext cx="2377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Delegate computation to untrusted nodes while preserving privacy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2F4E-9F2B-1063-9BA9-ACEE56D6EA81}"/>
              </a:ext>
            </a:extLst>
          </p:cNvPr>
          <p:cNvSpPr/>
          <p:nvPr/>
        </p:nvSpPr>
        <p:spPr>
          <a:xfrm>
            <a:off x="431759" y="1193345"/>
            <a:ext cx="2556783" cy="185295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785CE-1D9D-7700-5654-7C6A9FC5C7F8}"/>
              </a:ext>
            </a:extLst>
          </p:cNvPr>
          <p:cNvSpPr/>
          <p:nvPr/>
        </p:nvSpPr>
        <p:spPr>
          <a:xfrm>
            <a:off x="642842" y="4708963"/>
            <a:ext cx="10083233" cy="116835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SECRET SHARING           &amp;       MULTI PARTY COMPUTATION (MPC)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54E003-03C3-F787-68FC-969162AB69DC}"/>
              </a:ext>
            </a:extLst>
          </p:cNvPr>
          <p:cNvSpPr/>
          <p:nvPr/>
        </p:nvSpPr>
        <p:spPr>
          <a:xfrm>
            <a:off x="611442" y="3350732"/>
            <a:ext cx="10083233" cy="11683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Framework for efficient Secure Collaborative Analytics (FESCA)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166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8AFE5-2AE5-46F8-EB76-6CCA484A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F544E-0F8C-2F95-9316-C70D3839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94D750-0833-DCBB-266D-84115DAB1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ABAC11-8449-C186-1E22-D27F5052AE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4940A6-0557-C758-72FC-2584BCC57D7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67A76F-25C8-581C-B091-8C93700D7482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1C1579-E359-01C6-0B0C-8AFA749E8020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D937F2A-BF83-C9A1-BE58-104598C6089F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9FFA352-216D-1641-79E4-B671AFA2D5D8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78DB44-FCC8-86D4-C4C0-352800FA786E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72FE1F2-D5E5-D38A-3CF6-AE7A4B0DDC91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22BD9CE6-F0C2-CCEA-033C-4E7332F525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CFAD6A9E-5D46-821C-21A1-8FEFE1C41C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9055BC18-4556-80E8-9E96-9460F5CA3E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2604A340-201D-AEAC-5CF4-72A0731686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3323954-EBD4-5F78-3E98-1D5FB3887C2F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E413CDD-9345-8EB5-B2FF-09266B0C047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28A02539-1FA7-F6D9-1F4B-293E7155B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121CF43-262C-4B83-2C76-364CDF89CF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A7ED30-4FCD-0C0F-658C-AA3450C881F6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E9EEC81-6670-2474-7396-70269293A52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E61EED9C-0C21-A5DD-F8D1-6DCC01CDB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9C01834A-3BA2-4FB4-680A-27AEAA876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08BC1357-F4F1-13C7-181E-FEECFEA945E9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3476491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CA85-E4EB-9CE3-E832-D7B87694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BAB9AB0-F93C-409D-D19D-30948A7C4C1A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3754A55-BFFB-727C-4F55-94F38065056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2" name="Graphic 31" descr="Table outline">
              <a:extLst>
                <a:ext uri="{FF2B5EF4-FFF2-40B4-BE49-F238E27FC236}">
                  <a16:creationId xmlns:a16="http://schemas.microsoft.com/office/drawing/2014/main" id="{BF40E2E3-2BE9-DD8F-5AC3-F543F853A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Hospital outline">
              <a:extLst>
                <a:ext uri="{FF2B5EF4-FFF2-40B4-BE49-F238E27FC236}">
                  <a16:creationId xmlns:a16="http://schemas.microsoft.com/office/drawing/2014/main" id="{EF9890B7-63CC-0240-90D9-D8811C84E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FA489-78AC-616F-2372-FFB67230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5BF71-582A-B951-E1F6-697DE805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F3BB-630E-85F8-6FC4-2B124BCCFC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EF08C2-2BC6-49D2-FDED-4FD5414951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8E407A-0D4E-91CB-2376-9D25FD8E41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1A61C9-544A-1264-A375-22AA8446796D}"/>
              </a:ext>
            </a:extLst>
          </p:cNvPr>
          <p:cNvSpPr/>
          <p:nvPr/>
        </p:nvSpPr>
        <p:spPr>
          <a:xfrm>
            <a:off x="4678232" y="2037448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8" name="Graphic 7" descr="Arrow circle outline">
            <a:extLst>
              <a:ext uri="{FF2B5EF4-FFF2-40B4-BE49-F238E27FC236}">
                <a16:creationId xmlns:a16="http://schemas.microsoft.com/office/drawing/2014/main" id="{125AFBE2-8469-3885-AA14-75764AC59AD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2348857"/>
            <a:ext cx="914400" cy="914400"/>
          </a:xfrm>
          <a:prstGeom prst="rect">
            <a:avLst/>
          </a:prstGeom>
        </p:spPr>
      </p:pic>
      <p:pic>
        <p:nvPicPr>
          <p:cNvPr id="10" name="Graphic 9" descr="Arrow circle outline">
            <a:extLst>
              <a:ext uri="{FF2B5EF4-FFF2-40B4-BE49-F238E27FC236}">
                <a16:creationId xmlns:a16="http://schemas.microsoft.com/office/drawing/2014/main" id="{AB494710-0F34-0406-EAEF-C872A0A55B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3580162"/>
            <a:ext cx="914400" cy="914400"/>
          </a:xfrm>
          <a:prstGeom prst="rect">
            <a:avLst/>
          </a:prstGeom>
        </p:spPr>
      </p:pic>
      <p:pic>
        <p:nvPicPr>
          <p:cNvPr id="12" name="Graphic 11" descr="Arrow circle outline">
            <a:extLst>
              <a:ext uri="{FF2B5EF4-FFF2-40B4-BE49-F238E27FC236}">
                <a16:creationId xmlns:a16="http://schemas.microsoft.com/office/drawing/2014/main" id="{8952211A-EEF7-D3B0-C9A4-C7371B012F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099" y="4792632"/>
            <a:ext cx="914400" cy="914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6285AAF-76AB-55B7-99CE-093F5D6D4201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C8C85F5-6418-BE20-14A4-79A0796EBD2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D0AA58-22AC-EA8B-0526-284ED98E3A4A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1254022" y="4536151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SQL Query</a:t>
              </a:r>
              <a:endParaRPr lang="de-DE" dirty="0"/>
            </a:p>
          </p:txBody>
        </p:sp>
        <p:pic>
          <p:nvPicPr>
            <p:cNvPr id="18" name="Graphic 17" descr="Doctor male outline">
              <a:extLst>
                <a:ext uri="{FF2B5EF4-FFF2-40B4-BE49-F238E27FC236}">
                  <a16:creationId xmlns:a16="http://schemas.microsoft.com/office/drawing/2014/main" id="{2370338D-621F-1207-40C4-1673FEFF7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4" name="Graphic 23" descr="Doctor female outline">
              <a:extLst>
                <a:ext uri="{FF2B5EF4-FFF2-40B4-BE49-F238E27FC236}">
                  <a16:creationId xmlns:a16="http://schemas.microsoft.com/office/drawing/2014/main" id="{DB420E31-3BCC-1F3E-A82B-DD1178AD3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9DD5575-1064-C923-6553-E0B5EBB0AEA7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3320336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89CC-0DE8-2F26-1C8D-AA099CDD1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B084196-B138-1905-0AE2-96F0DD328D86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A493B92-F5A2-A94F-6F15-087EB9322CF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5" name="Graphic 34" descr="Table outline">
              <a:extLst>
                <a:ext uri="{FF2B5EF4-FFF2-40B4-BE49-F238E27FC236}">
                  <a16:creationId xmlns:a16="http://schemas.microsoft.com/office/drawing/2014/main" id="{E5FA6189-5853-5E89-CB1E-EF5064ECD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Hospital outline">
              <a:extLst>
                <a:ext uri="{FF2B5EF4-FFF2-40B4-BE49-F238E27FC236}">
                  <a16:creationId xmlns:a16="http://schemas.microsoft.com/office/drawing/2014/main" id="{D67B0655-B757-8EF6-D449-7D51C46A0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69704-F7ED-71D2-E680-C01EC879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E4CD3-E813-2F5A-AC11-82921685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33CAEB-129F-D9A9-7488-A1FA4F7BFAE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0D2C5-CB6C-D4D5-51EA-FCA7ADDFCA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45722-99E9-0949-3F89-FD11E92704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68B71-4DBD-9298-65A5-15E0F14EDBE9}"/>
              </a:ext>
            </a:extLst>
          </p:cNvPr>
          <p:cNvSpPr/>
          <p:nvPr/>
        </p:nvSpPr>
        <p:spPr>
          <a:xfrm>
            <a:off x="7722575" y="2114752"/>
            <a:ext cx="396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278C74-893B-9AE8-9B96-019479BFC664}"/>
              </a:ext>
            </a:extLst>
          </p:cNvPr>
          <p:cNvSpPr txBox="1"/>
          <p:nvPr/>
        </p:nvSpPr>
        <p:spPr>
          <a:xfrm>
            <a:off x="993670" y="4310600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84BFF6-FA41-272C-FCED-7417D196D42F}"/>
              </a:ext>
            </a:extLst>
          </p:cNvPr>
          <p:cNvCxnSpPr>
            <a:cxnSpLocks/>
            <a:stCxn id="28" idx="1"/>
            <a:endCxn id="49" idx="3"/>
          </p:cNvCxnSpPr>
          <p:nvPr/>
        </p:nvCxnSpPr>
        <p:spPr>
          <a:xfrm flipH="1">
            <a:off x="2955648" y="2780504"/>
            <a:ext cx="2432651" cy="185326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C7E5B0-C9C2-2614-4C30-A0F62C193FE3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flipH="1">
            <a:off x="2955648" y="4037362"/>
            <a:ext cx="2414699" cy="59640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7D2DAB0-A84B-40CF-66BD-C50B52B300B9}"/>
              </a:ext>
            </a:extLst>
          </p:cNvPr>
          <p:cNvCxnSpPr>
            <a:cxnSpLocks/>
            <a:stCxn id="30" idx="1"/>
            <a:endCxn id="49" idx="3"/>
          </p:cNvCxnSpPr>
          <p:nvPr/>
        </p:nvCxnSpPr>
        <p:spPr>
          <a:xfrm flipH="1" flipV="1">
            <a:off x="2955648" y="4633766"/>
            <a:ext cx="2414699" cy="66045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4E0861-DB8C-621F-9FF8-09D4BF049FFC}"/>
              </a:ext>
            </a:extLst>
          </p:cNvPr>
          <p:cNvSpPr txBox="1"/>
          <p:nvPr/>
        </p:nvSpPr>
        <p:spPr>
          <a:xfrm>
            <a:off x="3955719" y="3120334"/>
            <a:ext cx="1159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#1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27D799-4FD4-D8B5-B256-7BAD0685A4CD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2A9EC41-637B-60C0-B774-21560F00B46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Doctor male outline">
              <a:extLst>
                <a:ext uri="{FF2B5EF4-FFF2-40B4-BE49-F238E27FC236}">
                  <a16:creationId xmlns:a16="http://schemas.microsoft.com/office/drawing/2014/main" id="{93F3A5C0-A1A1-0A2E-5960-462EAC86B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6" name="Graphic 25" descr="Doctor female outline">
              <a:extLst>
                <a:ext uri="{FF2B5EF4-FFF2-40B4-BE49-F238E27FC236}">
                  <a16:creationId xmlns:a16="http://schemas.microsoft.com/office/drawing/2014/main" id="{8E502FDA-8356-14E6-EA2C-7AD3601A5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F9A13955-1F7B-7407-3AC4-C9B894DA0179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2880912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F784-8941-92DB-E96A-5987A000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742FF-049A-F847-8709-CE76C6B3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286B1-7AC9-8F9A-6039-86511E92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E2B6592-333C-00CD-D278-88B33301FB6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446302" y="230191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combining</a:t>
            </a:r>
            <a:r>
              <a:rPr lang="de-DE" sz="2400" dirty="0"/>
              <a:t> </a:t>
            </a:r>
            <a:r>
              <a:rPr lang="de-DE" sz="2400" dirty="0" err="1"/>
              <a:t>computation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</a:t>
            </a:r>
          </a:p>
        </p:txBody>
      </p: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8091D025-E531-9794-6C47-1DBD086ED7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519" y="3563018"/>
            <a:ext cx="914400" cy="914400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77C29371-F005-0A3A-1099-FF05C9168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5561" y="3563018"/>
            <a:ext cx="914400" cy="914400"/>
          </a:xfrm>
          <a:prstGeom prst="rect">
            <a:avLst/>
          </a:prstGeom>
        </p:spPr>
      </p:pic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4A89AA2A-4F39-D42B-4806-A4063381F9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5259" y="3563018"/>
            <a:ext cx="914400" cy="9144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5EE2D5CA-5F3A-7EE6-3510-B6BB2F67C6A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16000" y="3848432"/>
            <a:ext cx="6120000" cy="72191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XOR 		XOR		=</a:t>
            </a:r>
          </a:p>
        </p:txBody>
      </p:sp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EA131514-D170-5E08-91F1-871EC201B0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3514" y="3563018"/>
            <a:ext cx="914400" cy="9144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D11A37B9-25BB-E546-4318-47C31A7E328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074750" y="499782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/>
              <a:t>Output </a:t>
            </a:r>
            <a:r>
              <a:rPr lang="de-DE" sz="2400" b="1" dirty="0" err="1"/>
              <a:t>for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user</a:t>
            </a:r>
            <a:r>
              <a:rPr lang="de-DE" sz="2400" b="1" dirty="0"/>
              <a:t> in </a:t>
            </a:r>
            <a:r>
              <a:rPr lang="de-DE" sz="2400" b="1" dirty="0" err="1"/>
              <a:t>plaintext</a:t>
            </a:r>
            <a:endParaRPr lang="de-DE" sz="2400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DC335BA-DCBA-6796-5882-A5BB239A521E}"/>
              </a:ext>
            </a:extLst>
          </p:cNvPr>
          <p:cNvSpPr/>
          <p:nvPr/>
        </p:nvSpPr>
        <p:spPr>
          <a:xfrm rot="5400000">
            <a:off x="9387987" y="4459503"/>
            <a:ext cx="6289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8A0BDC-B352-A5E6-FC65-72D5980EB1CE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C01CA50-14F1-5502-EBE1-C7DD5B70F8E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7" name="Graphic 6" descr="Doctor male outline">
              <a:extLst>
                <a:ext uri="{FF2B5EF4-FFF2-40B4-BE49-F238E27FC236}">
                  <a16:creationId xmlns:a16="http://schemas.microsoft.com/office/drawing/2014/main" id="{562D2150-F48A-31AD-37B4-608DEDCB4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9" name="Graphic 8" descr="Doctor female outline">
              <a:extLst>
                <a:ext uri="{FF2B5EF4-FFF2-40B4-BE49-F238E27FC236}">
                  <a16:creationId xmlns:a16="http://schemas.microsoft.com/office/drawing/2014/main" id="{4243FD47-4417-AA98-15A6-6B3020A93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3EAEAA7-A571-48BB-9549-CEA7404D83EE}"/>
              </a:ext>
            </a:extLst>
          </p:cNvPr>
          <p:cNvSpPr txBox="1"/>
          <p:nvPr/>
        </p:nvSpPr>
        <p:spPr>
          <a:xfrm>
            <a:off x="3996740" y="3232655"/>
            <a:ext cx="538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#1	Result #2	Result #3</a:t>
            </a:r>
            <a:endParaRPr lang="de-D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10831A5-4E7B-6C5C-E94F-3336E27FBEE2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- Setup</a:t>
            </a:r>
          </a:p>
        </p:txBody>
      </p:sp>
    </p:spTree>
    <p:extLst>
      <p:ext uri="{BB962C8B-B14F-4D97-AF65-F5344CB8AC3E}">
        <p14:creationId xmlns:p14="http://schemas.microsoft.com/office/powerpoint/2010/main" val="1746666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394F-495E-0F8A-E29A-89F7336B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A0DA2-5E0A-28D9-8F24-4CDC1485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F3BB2-2AC1-5CAC-B9D4-672D479E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98D8C3-7613-BBF1-C25A-A06EFE67920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10D2A4-E84A-3C80-675F-DD74416378E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DB1B25-1526-EB4A-35CB-002011B58B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448D60-9709-9FBE-4A85-82120C4D1EA0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1F842B-F680-12BB-9EB5-AA046968492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DDA889-090C-D501-E3F2-B1A9A4B2988E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FC040A-6454-BE8C-1880-A7B788275C3A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054421-82EF-8CE2-C0A4-A0E39D45C9DB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314EF2C-6B4D-1999-0BB6-3CEF404FE3F9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677D6ADF-172B-3537-90A3-2BB5D1D5AA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09BB4AC7-A9A1-5451-61A4-B4B9DBF349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6880665E-6337-F794-914C-1CB33EC498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9A5444B7-914E-2A10-5CAA-2F1EC4AFDA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5BC02ED-988D-2C8D-9FFF-CFCAAD537076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8CF9A0-02B5-D83A-26F7-F1A9E076C6F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036F08FC-FDBF-6E22-D19F-60038CEB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0DFEB21-42FB-DEE4-A7DE-63CF0B5C3B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AA4614-C7A2-910A-0FA1-2EA32220A1B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3C6110B-9CD7-E9FC-68F4-03A311237A6E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67AA9E00-61BA-015F-F659-A64EA9FD2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A70EE053-E72F-E9EA-CF05-24898D9F3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74B682E0-D3C2-662E-63B0-42674B832AED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B02627-4363-E959-068C-488A57D65080}"/>
              </a:ext>
            </a:extLst>
          </p:cNvPr>
          <p:cNvSpPr/>
          <p:nvPr/>
        </p:nvSpPr>
        <p:spPr>
          <a:xfrm>
            <a:off x="-1487605" y="2114752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966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71A5-6618-7A76-F1AD-625E2DFA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3C844-F916-7D31-E164-6C4A1F2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E6F03-2BB7-0AF0-AF49-B41C2587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9D64B-9262-CBDA-5FE1-76CA984CF45E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068A90F-02B5-D248-C5A4-B6191847874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3168385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2F2E-3C4C-3671-4F74-C9EF7AB2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CF02C-3ED4-63CB-4BDF-DA5C3746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252D-3489-82F6-D600-8BCFAA26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6FE77-9607-62DD-7FF9-E6280812A172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pic>
        <p:nvPicPr>
          <p:cNvPr id="22" name="Graphic 21" descr="Dice with solid fill">
            <a:extLst>
              <a:ext uri="{FF2B5EF4-FFF2-40B4-BE49-F238E27FC236}">
                <a16:creationId xmlns:a16="http://schemas.microsoft.com/office/drawing/2014/main" id="{96173601-E602-380E-DD05-E49809314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7672" y="2565514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6EBB5B-EA02-6867-4B21-5162041FD03E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1C56D-12DE-75B8-DC83-BE9DFC22929A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pic>
        <p:nvPicPr>
          <p:cNvPr id="6" name="Graphic 5" descr="Dice with solid fill">
            <a:extLst>
              <a:ext uri="{FF2B5EF4-FFF2-40B4-BE49-F238E27FC236}">
                <a16:creationId xmlns:a16="http://schemas.microsoft.com/office/drawing/2014/main" id="{3C888514-68DE-7DC4-4373-6F54F044E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215" y="2549602"/>
            <a:ext cx="914400" cy="914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2AD21DE-6E63-65A3-9C68-29091016195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</p:spTree>
    <p:extLst>
      <p:ext uri="{BB962C8B-B14F-4D97-AF65-F5344CB8AC3E}">
        <p14:creationId xmlns:p14="http://schemas.microsoft.com/office/powerpoint/2010/main" val="11328392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2E82-7F87-FDD7-4366-C0482848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DD09F-30C5-4467-EC5F-1D2A608C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1C413-5A30-0550-245E-7D91E78A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0FB26-8DB2-ABDA-ADDB-ABB656C2A329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E98995-4070-FD2C-36B7-C07CC02CA5F4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806790-4C19-875C-25E1-627A7CF7094F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A5FABC04-EBAB-01DC-7D19-93D08EFEF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6073CCB0-DB14-4FA2-638A-8885074F6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1AE524D-FA72-2C5D-2522-E978B4E69C0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189B6-7012-CF9A-4A09-B7A3EBCBB1A3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71933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8F922-7CC4-F11B-A3F2-31BCE52B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0E30B-BC4B-DFAE-DE4F-924546FD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B94B1-12A3-DA25-8AB9-D7CE7612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B74AD425-89B5-879E-6BD5-F2EB42D3013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2 out of 3 - Secret SHARING OF 1 BIT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EB439-E16B-7D4E-389F-310C665A7F4B}"/>
              </a:ext>
            </a:extLst>
          </p:cNvPr>
          <p:cNvSpPr txBox="1"/>
          <p:nvPr/>
        </p:nvSpPr>
        <p:spPr>
          <a:xfrm>
            <a:off x="1776000" y="1629000"/>
            <a:ext cx="1300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   =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CCB95-957B-088C-D925-2B99825976FC}"/>
              </a:ext>
            </a:extLst>
          </p:cNvPr>
          <p:cNvSpPr/>
          <p:nvPr/>
        </p:nvSpPr>
        <p:spPr>
          <a:xfrm>
            <a:off x="4094753" y="1689702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8056BF-8E67-83F7-052E-A599CD8BA0CB}"/>
              </a:ext>
            </a:extLst>
          </p:cNvPr>
          <p:cNvSpPr/>
          <p:nvPr/>
        </p:nvSpPr>
        <p:spPr>
          <a:xfrm>
            <a:off x="6441383" y="1689701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86B1E8-092B-18AD-C6FC-ABCEC59B7DCF}"/>
              </a:ext>
            </a:extLst>
          </p:cNvPr>
          <p:cNvSpPr/>
          <p:nvPr/>
        </p:nvSpPr>
        <p:spPr>
          <a:xfrm>
            <a:off x="8788343" y="168665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pic>
        <p:nvPicPr>
          <p:cNvPr id="8" name="Graphic 7" descr="Badge Follow with solid fill">
            <a:extLst>
              <a:ext uri="{FF2B5EF4-FFF2-40B4-BE49-F238E27FC236}">
                <a16:creationId xmlns:a16="http://schemas.microsoft.com/office/drawing/2014/main" id="{1194F749-3529-F90A-D820-91CED2956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07" y="1682674"/>
            <a:ext cx="648035" cy="648035"/>
          </a:xfrm>
          <a:prstGeom prst="rect">
            <a:avLst/>
          </a:prstGeom>
        </p:spPr>
      </p:pic>
      <p:pic>
        <p:nvPicPr>
          <p:cNvPr id="10" name="Graphic 9" descr="Badge Follow with solid fill">
            <a:extLst>
              <a:ext uri="{FF2B5EF4-FFF2-40B4-BE49-F238E27FC236}">
                <a16:creationId xmlns:a16="http://schemas.microsoft.com/office/drawing/2014/main" id="{0AC45DBC-36EE-E0D6-3709-421599613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7771" y="1679626"/>
            <a:ext cx="648035" cy="6480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27B2A7-E4C7-A9FE-644F-B9F16B75F12E}"/>
              </a:ext>
            </a:extLst>
          </p:cNvPr>
          <p:cNvCxnSpPr>
            <a:cxnSpLocks/>
          </p:cNvCxnSpPr>
          <p:nvPr/>
        </p:nvCxnSpPr>
        <p:spPr>
          <a:xfrm flipH="1">
            <a:off x="4656000" y="2708653"/>
            <a:ext cx="1440000" cy="65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052035-95FF-9A4A-77CA-B342735F1ADB}"/>
              </a:ext>
            </a:extLst>
          </p:cNvPr>
          <p:cNvCxnSpPr>
            <a:cxnSpLocks/>
          </p:cNvCxnSpPr>
          <p:nvPr/>
        </p:nvCxnSpPr>
        <p:spPr>
          <a:xfrm>
            <a:off x="6096000" y="2714713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91F2F1-24E2-AC56-AA61-B77766B95B63}"/>
              </a:ext>
            </a:extLst>
          </p:cNvPr>
          <p:cNvCxnSpPr>
            <a:cxnSpLocks/>
          </p:cNvCxnSpPr>
          <p:nvPr/>
        </p:nvCxnSpPr>
        <p:spPr>
          <a:xfrm>
            <a:off x="6096000" y="2710733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AEED0-FB95-1713-30F4-CF49999D68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02510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1023D5-4412-FE36-0E45-11E474E565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86279" y="3705333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A889B0-468D-1562-2F7B-76B15F9B0F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56310" y="3707122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Party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BEFF9-14F5-1AF8-CA4A-29EFF8FCEF60}"/>
              </a:ext>
            </a:extLst>
          </p:cNvPr>
          <p:cNvSpPr/>
          <p:nvPr/>
        </p:nvSpPr>
        <p:spPr>
          <a:xfrm>
            <a:off x="3579638" y="4291635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34F1BF-9DE4-E2E4-2FD3-8D76EA869B6A}"/>
              </a:ext>
            </a:extLst>
          </p:cNvPr>
          <p:cNvSpPr/>
          <p:nvPr/>
        </p:nvSpPr>
        <p:spPr>
          <a:xfrm>
            <a:off x="4399223" y="4301837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A48D2-6399-99FF-5F6A-5E512B47F1F7}"/>
              </a:ext>
            </a:extLst>
          </p:cNvPr>
          <p:cNvSpPr/>
          <p:nvPr/>
        </p:nvSpPr>
        <p:spPr>
          <a:xfrm>
            <a:off x="5493455" y="4301836"/>
            <a:ext cx="573247" cy="6480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3B1E3B-3866-76C8-493C-9F31F01AEC53}"/>
              </a:ext>
            </a:extLst>
          </p:cNvPr>
          <p:cNvSpPr/>
          <p:nvPr/>
        </p:nvSpPr>
        <p:spPr>
          <a:xfrm>
            <a:off x="6224280" y="4301835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A63FA8-BC38-EF22-088D-C97408152B4E}"/>
              </a:ext>
            </a:extLst>
          </p:cNvPr>
          <p:cNvSpPr/>
          <p:nvPr/>
        </p:nvSpPr>
        <p:spPr>
          <a:xfrm>
            <a:off x="7408781" y="4291634"/>
            <a:ext cx="573247" cy="648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BF75B7-8830-9B6E-B2AD-81CF74F67782}"/>
              </a:ext>
            </a:extLst>
          </p:cNvPr>
          <p:cNvSpPr/>
          <p:nvPr/>
        </p:nvSpPr>
        <p:spPr>
          <a:xfrm>
            <a:off x="8164796" y="4291633"/>
            <a:ext cx="573247" cy="64803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ysClr val="windowText" lastClr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39266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7071-D1E3-7C18-AC7E-BE917B3C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9F1AB-2AF2-C324-2F68-B1966E5C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3410-CF1E-C5E3-7084-AB739399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D82D82-E168-9938-C66A-8CE5DFEB7F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82BD323F-EF17-B77C-CA0A-C584810A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974CE90-CEBB-B67D-5DA4-032479D0C6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F3B1032-E54B-890A-CEF9-C7537D407A0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18B77A-3998-6609-F6F7-E72FF7F6C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788029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 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02AA7B-22F0-D148-FFA6-B45E805BEBF4}"/>
              </a:ext>
            </a:extLst>
          </p:cNvPr>
          <p:cNvSpPr txBox="1"/>
          <p:nvPr/>
        </p:nvSpPr>
        <p:spPr>
          <a:xfrm rot="5400000">
            <a:off x="4876145" y="4426116"/>
            <a:ext cx="4334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99322-04DE-9CE1-DF5D-C0BD2A530383}"/>
              </a:ext>
            </a:extLst>
          </p:cNvPr>
          <p:cNvSpPr txBox="1"/>
          <p:nvPr/>
        </p:nvSpPr>
        <p:spPr>
          <a:xfrm>
            <a:off x="1570096" y="223428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Hospital_db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5385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5495-1246-A156-FECA-D01BF0DD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F229A-D3D1-5FD7-4E22-4A021F58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1B9E2-84E1-2CA9-08FB-CE48600D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A5AB94-7324-A478-C42B-B89580B6016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6424DCC7-BCA3-EDC5-E26B-D60EA03F8B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0377F617-03C5-D003-6063-9C2E9C61F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BE5D7A9-ABA3-DE01-50D1-7275681C364E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75EA94-52DB-12FE-31B4-AA8CC2692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18061"/>
              </p:ext>
            </p:extLst>
          </p:nvPr>
        </p:nvGraphicFramePr>
        <p:xfrm>
          <a:off x="1570096" y="2634704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549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56F7-4032-BCF2-3E25-754C049F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22558-2842-7300-4DEE-D681843A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32EAE-38C7-D3A4-4662-52D49E83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4F8244-3E13-4962-3DB0-4C79C086D9D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313F9A9A-31AD-1104-1DA0-08ED71F67F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3B0C3C2B-641E-0545-83F1-535245D74F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B1090C0C-19F6-8E01-AB91-D2DD6F87EF3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98B0E-1363-79D4-02F6-5603FA630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729187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D02CDF4-32A4-7370-E7E4-3CC91BB08C5D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C8522D-A68E-78CB-908A-97EFBAC21E2C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9C7DE8-BB23-0095-6869-76EB344E5659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94506A-7D3A-4D09-6181-8EB6B6127031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9DF6280D-62FE-6B1A-F6B0-AF1A2FEB2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C1BFAEFB-0CCB-834F-37C9-89796B6314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747AE197-1D9F-38DE-43BA-A224FE0747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7CDCDE1-8751-D53F-5E39-B2F58FB1CCA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9D884E-FF27-5630-DBA8-608D184FA87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8109000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A160CC-516E-8866-A915-BE7CB2554F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8110789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228A7F-AC5A-FFDC-F559-ADE36A6F3DF2}"/>
              </a:ext>
            </a:extLst>
          </p:cNvPr>
          <p:cNvCxnSpPr>
            <a:cxnSpLocks/>
          </p:cNvCxnSpPr>
          <p:nvPr/>
        </p:nvCxnSpPr>
        <p:spPr>
          <a:xfrm flipH="1">
            <a:off x="3333120" y="3864951"/>
            <a:ext cx="1451695" cy="617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99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4AAF-8AAF-E13E-562B-12D5CCCD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B2B59-7F17-2C44-43EF-07ADCBFF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FB374-15B2-AD5B-6BF7-7DB2080E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422AF6-428C-A0B8-928D-106B2B26829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180528" y="2329946"/>
            <a:ext cx="2160000" cy="3240000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 Owner</a:t>
            </a:r>
            <a:endParaRPr lang="de-DE" b="1" dirty="0">
              <a:solidFill>
                <a:schemeClr val="tx1"/>
              </a:solidFill>
            </a:endParaRPr>
          </a:p>
        </p:txBody>
      </p:sp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70C28BA3-07B8-ED54-8F41-CCD4E6A9C2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8880" y="4310600"/>
            <a:ext cx="914400" cy="914400"/>
          </a:xfrm>
          <a:prstGeom prst="rect">
            <a:avLst/>
          </a:prstGeom>
        </p:spPr>
      </p:pic>
      <p:pic>
        <p:nvPicPr>
          <p:cNvPr id="6" name="Graphic 5" descr="Hospital outline">
            <a:extLst>
              <a:ext uri="{FF2B5EF4-FFF2-40B4-BE49-F238E27FC236}">
                <a16:creationId xmlns:a16="http://schemas.microsoft.com/office/drawing/2014/main" id="{EA2AD3E2-12F2-83E5-D2B2-F8BA14DBE6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3328" y="2486491"/>
            <a:ext cx="914400" cy="9144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DDB4525-BD10-48C9-B6A1-2F476F4EC2E1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Owner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F480A4-E4BB-AADC-E4E0-B9E4C5ADE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51763"/>
              </p:ext>
            </p:extLst>
          </p:nvPr>
        </p:nvGraphicFramePr>
        <p:xfrm>
          <a:off x="1570096" y="1269000"/>
          <a:ext cx="658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00">
                  <a:extLst>
                    <a:ext uri="{9D8B030D-6E8A-4147-A177-3AD203B41FA5}">
                      <a16:colId xmlns:a16="http://schemas.microsoft.com/office/drawing/2014/main" val="1240494242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1463516646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3299508199"/>
                    </a:ext>
                  </a:extLst>
                </a:gridCol>
                <a:gridCol w="1646000">
                  <a:extLst>
                    <a:ext uri="{9D8B030D-6E8A-4147-A177-3AD203B41FA5}">
                      <a16:colId xmlns:a16="http://schemas.microsoft.com/office/drawing/2014/main" val="87062033"/>
                    </a:ext>
                  </a:extLst>
                </a:gridCol>
              </a:tblGrid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Patient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683906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010001010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0111010110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1011101010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1000010110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488172"/>
                  </a:ext>
                </a:extLst>
              </a:tr>
              <a:tr h="214632">
                <a:tc>
                  <a:txBody>
                    <a:bodyPr/>
                    <a:lstStyle/>
                    <a:p>
                      <a:r>
                        <a:rPr lang="en-US" dirty="0"/>
                        <a:t>110100101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0101110101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0111100010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1000101001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14826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DB8666A-323F-1BFB-BDCD-E9F9B78C8055}"/>
              </a:ext>
            </a:extLst>
          </p:cNvPr>
          <p:cNvSpPr/>
          <p:nvPr/>
        </p:nvSpPr>
        <p:spPr>
          <a:xfrm>
            <a:off x="3173407" y="3155977"/>
            <a:ext cx="3377378" cy="7089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SECRET SHARING</a:t>
            </a:r>
          </a:p>
        </p:txBody>
      </p:sp>
      <p:cxnSp>
        <p:nvCxnSpPr>
          <p:cNvPr id="14" name="!!Straight Arrow Connector 13">
            <a:extLst>
              <a:ext uri="{FF2B5EF4-FFF2-40B4-BE49-F238E27FC236}">
                <a16:creationId xmlns:a16="http://schemas.microsoft.com/office/drawing/2014/main" id="{D7D6FE4D-81B3-2628-7DE4-307682DC58A8}"/>
              </a:ext>
            </a:extLst>
          </p:cNvPr>
          <p:cNvCxnSpPr>
            <a:cxnSpLocks/>
          </p:cNvCxnSpPr>
          <p:nvPr/>
        </p:nvCxnSpPr>
        <p:spPr>
          <a:xfrm>
            <a:off x="4863600" y="2640600"/>
            <a:ext cx="0" cy="51537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Table outline">
            <a:extLst>
              <a:ext uri="{FF2B5EF4-FFF2-40B4-BE49-F238E27FC236}">
                <a16:creationId xmlns:a16="http://schemas.microsoft.com/office/drawing/2014/main" id="{E92FF1DA-7307-D77D-AA25-5D4E1CDB5A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71103" y="4448283"/>
            <a:ext cx="914400" cy="914400"/>
          </a:xfrm>
          <a:prstGeom prst="rect">
            <a:avLst/>
          </a:prstGeom>
        </p:spPr>
      </p:pic>
      <p:pic>
        <p:nvPicPr>
          <p:cNvPr id="31" name="Graphic 30" descr="Table outline">
            <a:extLst>
              <a:ext uri="{FF2B5EF4-FFF2-40B4-BE49-F238E27FC236}">
                <a16:creationId xmlns:a16="http://schemas.microsoft.com/office/drawing/2014/main" id="{FB14E965-99F0-8920-D46C-ACECF7D71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2328" y="4448283"/>
            <a:ext cx="914400" cy="914400"/>
          </a:xfrm>
          <a:prstGeom prst="rect">
            <a:avLst/>
          </a:prstGeom>
        </p:spPr>
      </p:pic>
      <p:pic>
        <p:nvPicPr>
          <p:cNvPr id="32" name="Graphic 31" descr="Table outline">
            <a:extLst>
              <a:ext uri="{FF2B5EF4-FFF2-40B4-BE49-F238E27FC236}">
                <a16:creationId xmlns:a16="http://schemas.microsoft.com/office/drawing/2014/main" id="{0E3558C3-49C8-45C9-C57A-EE3C33BA3F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5072" y="4448283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197D402-ACDE-2038-BA5E-7164F97B88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57354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0F957B-5C35-5876-53F7-8D2A47EB6A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241123" y="5438026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76D63D-87B8-B766-6671-3E5431C52FD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1154" y="5439815"/>
            <a:ext cx="1341898" cy="469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9" name="!!Straight Arrow Connector 8">
            <a:extLst>
              <a:ext uri="{FF2B5EF4-FFF2-40B4-BE49-F238E27FC236}">
                <a16:creationId xmlns:a16="http://schemas.microsoft.com/office/drawing/2014/main" id="{8976B819-238A-8646-956C-CA870A9D8DF7}"/>
              </a:ext>
            </a:extLst>
          </p:cNvPr>
          <p:cNvCxnSpPr>
            <a:cxnSpLocks/>
          </p:cNvCxnSpPr>
          <p:nvPr/>
        </p:nvCxnSpPr>
        <p:spPr>
          <a:xfrm>
            <a:off x="4808400" y="3871011"/>
            <a:ext cx="1413106" cy="6113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!!Straight Arrow Connector 9">
            <a:extLst>
              <a:ext uri="{FF2B5EF4-FFF2-40B4-BE49-F238E27FC236}">
                <a16:creationId xmlns:a16="http://schemas.microsoft.com/office/drawing/2014/main" id="{9C8CFF7B-A8C3-828D-A1F9-2E0E3F87CB8B}"/>
              </a:ext>
            </a:extLst>
          </p:cNvPr>
          <p:cNvCxnSpPr>
            <a:cxnSpLocks/>
          </p:cNvCxnSpPr>
          <p:nvPr/>
        </p:nvCxnSpPr>
        <p:spPr>
          <a:xfrm>
            <a:off x="4808400" y="3867031"/>
            <a:ext cx="5647" cy="7139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!!Straight Arrow Connector 10">
            <a:extLst>
              <a:ext uri="{FF2B5EF4-FFF2-40B4-BE49-F238E27FC236}">
                <a16:creationId xmlns:a16="http://schemas.microsoft.com/office/drawing/2014/main" id="{B4E04008-77E3-69F2-7BDC-714BEF7CFE0C}"/>
              </a:ext>
            </a:extLst>
          </p:cNvPr>
          <p:cNvCxnSpPr>
            <a:cxnSpLocks/>
          </p:cNvCxnSpPr>
          <p:nvPr/>
        </p:nvCxnSpPr>
        <p:spPr>
          <a:xfrm flipH="1">
            <a:off x="3333120" y="3864951"/>
            <a:ext cx="1451695" cy="617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5501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043C-4D55-C312-6780-F1DEEA3C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E0CD4-6EF1-8D84-CF44-AB408310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7779C-FC30-B0CE-A385-21B5C98E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51C76A-1C2F-3A34-D851-1E9BC0EF01A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4A306C-B50A-04BA-FBBD-878B499BCA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0237A6-FD99-3A9D-3E64-6C2D6AE2ACD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BF768B6-5572-B4D0-87F5-C1C05EC4660C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535BBC-08EC-0D39-3110-47F0473CAA07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E4A531-61C8-5DF2-BE73-2E19064E4AE1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442B73B-D7D3-0E93-619C-749B1D17F316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10AAB0-FE61-D3EA-15E9-3EBD6F16FD9F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14CD18-2A08-2837-64E4-CBED1352955A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DFDA6389-C85C-4003-FFB0-553178E2C4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5ADBBC4E-6F54-C727-9B80-98412E5D4E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2468B7E1-5F46-9190-8FA6-150015AF35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46629843-A4F3-5F80-2C07-61A143A731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F5098A-1A68-CE87-2DF8-AB6700E85EBC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2CCACA-6EB6-4633-9B88-D6682F6F91E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123C0E24-82AE-184A-6D06-35DC4F1C4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C4FE1C2-8CF5-D3EA-1F2E-961580A0063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54023" y="453615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 Query</a:t>
            </a: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3316B0-C8CD-9D32-7139-39A88142DBE8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60244EB-BD4C-C1E1-DC67-81B542A9DD8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E8A11C81-15A7-9153-E642-4D4324F44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32F99CA9-6409-5543-EA75-5082C44F3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11E640A-6D95-6B6B-CCA8-FCB8B2B79D05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0D663-B7B3-FADE-F5CD-9228F7F349C1}"/>
              </a:ext>
            </a:extLst>
          </p:cNvPr>
          <p:cNvSpPr/>
          <p:nvPr/>
        </p:nvSpPr>
        <p:spPr>
          <a:xfrm>
            <a:off x="5343017" y="2161683"/>
            <a:ext cx="684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058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E137-EA90-862C-229A-CD98B0D6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25D935-6F30-6A03-5F04-6D5587C8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C643B-6435-22C2-4FF8-75B231BF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489D44-04B5-C1C8-F275-E8FEA9AAED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214480" y="1629000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Query: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124978-2D3A-565D-EE50-FE43C9A0FA6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DFB4C60-CC72-71CB-17BA-E5BB652BA8E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7C0C95B6-A2C2-49B5-FD0A-94E82DDD8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AD1A79D6-D8B4-3FD5-70EC-D6C7DD302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ED17B07-A875-2534-12E8-8EA7898DC96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4F0B4-98FC-FC10-A786-7BDFB94C73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996740" y="2523932"/>
            <a:ext cx="7201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SELECT AVG(age) FROM </a:t>
            </a:r>
            <a:r>
              <a:rPr lang="en-US" sz="2400" b="1" dirty="0" err="1"/>
              <a:t>hospital_db</a:t>
            </a:r>
            <a:endParaRPr lang="en-US" sz="2400" b="1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A86E579-FD90-4146-95EE-E74AC858DF57}"/>
              </a:ext>
            </a:extLst>
          </p:cNvPr>
          <p:cNvSpPr/>
          <p:nvPr/>
        </p:nvSpPr>
        <p:spPr>
          <a:xfrm rot="5400000">
            <a:off x="6449289" y="3217199"/>
            <a:ext cx="720000" cy="731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2C85A7-E24A-F213-6360-B6A56460394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8889" y="3368701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Compiler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369BD-174B-91CD-2D7A-A3DC0C1B4FB7}"/>
              </a:ext>
            </a:extLst>
          </p:cNvPr>
          <p:cNvSpPr/>
          <p:nvPr/>
        </p:nvSpPr>
        <p:spPr>
          <a:xfrm>
            <a:off x="5369289" y="4274123"/>
            <a:ext cx="2880000" cy="108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What operation to execute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221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2549B-6624-1A7E-9B0E-031B6D90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DCB72-CEE3-9F3E-503C-8F461351E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9EA0C-05E1-C8C0-4F27-F92A705D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1C26C-2F66-40E0-A6AB-25B2A73780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DF2E4A-4CA7-AEA4-3886-2EFC5CCC67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199BBA-CF76-09CC-D860-C7B4056DB26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CFE20EC-2C58-2D71-C6AC-183F32C2FF2E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AA7354-1551-803C-4AAC-C7F6781F7519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30556F-B0B8-264D-2313-3C199F073461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F2EBF4-4338-DB2D-4BDC-F045C3B61523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9DB3F4E-1115-3869-5B95-730D43C0B5E3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4E8CEF-AE18-40EC-3339-7881DAA3591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F4C2CD64-B41D-EC58-27B1-CBAFCC52F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D337B740-8079-7B46-1648-C768A06E92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4B43CE44-B815-9E84-57AB-3C1410B9D4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9B0F9714-FDA2-ADE2-4134-83E13784F3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161A58-F363-6883-0284-15C39E9A4552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DBC83A-8C06-39F9-B704-98B31E35398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94803213-5110-B25E-DD83-3BD404D6F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33DBEC-E5F7-E73E-4199-DC029A447CD0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CBA5078-24B3-46C8-9170-BE9EA6ED60C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4FA1790A-CCBE-5DAA-4435-82CBC8D30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C7A7AC99-3ABD-F986-E7A2-09C6AB0BE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5A6DDFB6-1C99-696B-1F79-02EC865B89CF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317D4-58ED-7F4B-C187-7A7823BF673B}"/>
              </a:ext>
            </a:extLst>
          </p:cNvPr>
          <p:cNvSpPr/>
          <p:nvPr/>
        </p:nvSpPr>
        <p:spPr>
          <a:xfrm>
            <a:off x="6837677" y="2161683"/>
            <a:ext cx="534534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5242E-3F46-F553-B854-2321767CF661}"/>
              </a:ext>
            </a:extLst>
          </p:cNvPr>
          <p:cNvSpPr/>
          <p:nvPr/>
        </p:nvSpPr>
        <p:spPr>
          <a:xfrm>
            <a:off x="1393522" y="4295899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EC586F-4BC6-E4BB-3A60-A5665DBAF1AC}"/>
              </a:ext>
            </a:extLst>
          </p:cNvPr>
          <p:cNvSpPr/>
          <p:nvPr/>
        </p:nvSpPr>
        <p:spPr>
          <a:xfrm>
            <a:off x="1416163" y="435751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657F77-C199-ED6B-F898-25D25253752C}"/>
              </a:ext>
            </a:extLst>
          </p:cNvPr>
          <p:cNvSpPr/>
          <p:nvPr/>
        </p:nvSpPr>
        <p:spPr>
          <a:xfrm>
            <a:off x="1369642" y="4351311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562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A35B-68A2-3A8E-2981-887C640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8B8FF-AD1B-99DC-4705-DCF0A718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1A80-42FC-2913-8CA4-85981A05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54AB62-79EE-4C35-262B-7E24358FCD9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1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4181ED-369B-D1C7-8837-32BB0BD45D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5EE6D-09DC-6752-A082-C3C10E2879B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3</a:t>
            </a:r>
            <a:endParaRPr lang="de-DE" sz="1600" b="1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0496A3-F50D-EDA1-8A4E-8F4A68B0AA35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6828299" y="2780504"/>
            <a:ext cx="3014424" cy="19737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64DDA8-AEDA-DB67-CAD2-CFD0CC369CD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6810347" y="4037362"/>
            <a:ext cx="3032376" cy="6900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4D53F0-C095-7A6E-5AAE-390D8AF36228}"/>
              </a:ext>
            </a:extLst>
          </p:cNvPr>
          <p:cNvCxnSpPr>
            <a:cxnSpLocks/>
          </p:cNvCxnSpPr>
          <p:nvPr/>
        </p:nvCxnSpPr>
        <p:spPr>
          <a:xfrm flipH="1">
            <a:off x="6828299" y="4765411"/>
            <a:ext cx="3014424" cy="5650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177C4A-E4BB-39BE-8295-9201CC794B2C}"/>
              </a:ext>
            </a:extLst>
          </p:cNvPr>
          <p:cNvCxnSpPr>
            <a:cxnSpLocks/>
          </p:cNvCxnSpPr>
          <p:nvPr/>
        </p:nvCxnSpPr>
        <p:spPr>
          <a:xfrm flipV="1">
            <a:off x="2687423" y="2738908"/>
            <a:ext cx="2655594" cy="1999737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8B7AA6F-FC66-4176-3EEE-F86A1BB171F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69471" y="4037362"/>
            <a:ext cx="2700876" cy="70128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54A2ABA-CB6D-D901-491A-B8AB8B2DACA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669471" y="4720817"/>
            <a:ext cx="2700876" cy="573403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Binary with solid fill">
            <a:extLst>
              <a:ext uri="{FF2B5EF4-FFF2-40B4-BE49-F238E27FC236}">
                <a16:creationId xmlns:a16="http://schemas.microsoft.com/office/drawing/2014/main" id="{18D787C6-E631-E2CD-DAA8-799B391C7A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1267" y="2851288"/>
            <a:ext cx="609378" cy="609378"/>
          </a:xfrm>
          <a:prstGeom prst="rect">
            <a:avLst/>
          </a:prstGeom>
        </p:spPr>
      </p:pic>
      <p:pic>
        <p:nvPicPr>
          <p:cNvPr id="52" name="Graphic 51" descr="Binary with solid fill">
            <a:extLst>
              <a:ext uri="{FF2B5EF4-FFF2-40B4-BE49-F238E27FC236}">
                <a16:creationId xmlns:a16="http://schemas.microsoft.com/office/drawing/2014/main" id="{4449581F-4CB0-7ABE-C4C4-43D2753CAE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839" y="3650416"/>
            <a:ext cx="609378" cy="609378"/>
          </a:xfrm>
          <a:prstGeom prst="rect">
            <a:avLst/>
          </a:prstGeom>
        </p:spPr>
      </p:pic>
      <p:pic>
        <p:nvPicPr>
          <p:cNvPr id="53" name="Graphic 52" descr="Binary with solid fill">
            <a:extLst>
              <a:ext uri="{FF2B5EF4-FFF2-40B4-BE49-F238E27FC236}">
                <a16:creationId xmlns:a16="http://schemas.microsoft.com/office/drawing/2014/main" id="{6DA27367-60A5-702F-7C83-BA6F55BC5F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0969" y="4520328"/>
            <a:ext cx="609378" cy="609378"/>
          </a:xfrm>
          <a:prstGeom prst="rect">
            <a:avLst/>
          </a:prstGeom>
        </p:spPr>
      </p:pic>
      <p:pic>
        <p:nvPicPr>
          <p:cNvPr id="17" name="Graphic 16" descr="Table outline">
            <a:extLst>
              <a:ext uri="{FF2B5EF4-FFF2-40B4-BE49-F238E27FC236}">
                <a16:creationId xmlns:a16="http://schemas.microsoft.com/office/drawing/2014/main" id="{3945A606-6C8D-D930-7A88-F309001DF2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0993" y="4290378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C403DFF-A7CE-C57D-F2A3-B92BF37F3577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EDEC58F-7BF7-60C5-9983-F943A34E4C9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6" name="Graphic 5" descr="Hospital outline">
              <a:extLst>
                <a:ext uri="{FF2B5EF4-FFF2-40B4-BE49-F238E27FC236}">
                  <a16:creationId xmlns:a16="http://schemas.microsoft.com/office/drawing/2014/main" id="{E783112E-7457-61D9-54BB-84C6FEAC3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17A67D-C5CB-5440-66BD-45D81FCA8A02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9B2BA55-A8FB-43E9-FEC7-C2BEAE98988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Graphic 7" descr="Doctor male outline">
              <a:extLst>
                <a:ext uri="{FF2B5EF4-FFF2-40B4-BE49-F238E27FC236}">
                  <a16:creationId xmlns:a16="http://schemas.microsoft.com/office/drawing/2014/main" id="{F8F6C392-6356-0A98-1B0B-74170403E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10" name="Graphic 9" descr="Doctor female outline">
              <a:extLst>
                <a:ext uri="{FF2B5EF4-FFF2-40B4-BE49-F238E27FC236}">
                  <a16:creationId xmlns:a16="http://schemas.microsoft.com/office/drawing/2014/main" id="{0BF61F86-4B87-A49C-ECFA-6DA399E8A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0BC3473A-1636-227A-1D5A-3A7934E04F10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Fesca</a:t>
            </a:r>
            <a:r>
              <a:rPr lang="en-US" sz="2400" dirty="0"/>
              <a:t> – DATA ANALYST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AAB9D-75B5-1B6B-4A01-EF1D6D6697F2}"/>
              </a:ext>
            </a:extLst>
          </p:cNvPr>
          <p:cNvSpPr/>
          <p:nvPr/>
        </p:nvSpPr>
        <p:spPr>
          <a:xfrm>
            <a:off x="6837677" y="2161683"/>
            <a:ext cx="534534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9D50B-3A8F-62EE-3425-BAFACA4EDFF4}"/>
              </a:ext>
            </a:extLst>
          </p:cNvPr>
          <p:cNvSpPr/>
          <p:nvPr/>
        </p:nvSpPr>
        <p:spPr>
          <a:xfrm>
            <a:off x="5526313" y="239371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3E89F-5C37-52BF-D3A8-D5E8AAD614F1}"/>
              </a:ext>
            </a:extLst>
          </p:cNvPr>
          <p:cNvSpPr/>
          <p:nvPr/>
        </p:nvSpPr>
        <p:spPr>
          <a:xfrm>
            <a:off x="5509160" y="4913087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577624-DCF0-CCB3-1DE7-2EF42541A217}"/>
              </a:ext>
            </a:extLst>
          </p:cNvPr>
          <p:cNvSpPr/>
          <p:nvPr/>
        </p:nvSpPr>
        <p:spPr>
          <a:xfrm>
            <a:off x="5501542" y="3662356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1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BDF8-5E16-11C8-AC10-10CE2167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FB8BC-089E-5CC5-7ECF-759A9C25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D0331-4D8A-321E-4D82-FF1D8272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B898A0E-F003-A917-C108-23C321D0923D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7862D8-F3D7-77CB-5669-EEC8B5BE8DD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2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7227A-95DF-BB5F-39F0-BA177A379F1B}"/>
              </a:ext>
            </a:extLst>
          </p:cNvPr>
          <p:cNvSpPr/>
          <p:nvPr/>
        </p:nvSpPr>
        <p:spPr>
          <a:xfrm>
            <a:off x="1187195" y="3484862"/>
            <a:ext cx="1159659" cy="7622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1050" dirty="0">
                <a:solidFill>
                  <a:schemeClr val="tx1"/>
                </a:solidFill>
              </a:rPr>
              <a:t>What operation to execute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043A8D64-3470-78B1-537B-F4FB726C8100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23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B8A8-657D-BB5B-FAFF-1BFCE51C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7CEA7-D4E4-064C-EF2D-F1DA3B00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5650-0CEA-4F2A-26AD-E00DB919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1B5ADD4-C2C5-0DFD-4624-F7D188F94D8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DA8C34-C705-560C-CA7E-C9F7717D3AC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149EB0-3F40-27EB-FC34-C10A2597D25B}"/>
              </a:ext>
            </a:extLst>
          </p:cNvPr>
          <p:cNvSpPr/>
          <p:nvPr/>
        </p:nvSpPr>
        <p:spPr>
          <a:xfrm>
            <a:off x="3455381" y="1765115"/>
            <a:ext cx="2231026" cy="15012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What operation to execute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4A8D937F-2C7C-5A83-98C7-46EEC7652C5A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24C29F3-B2E4-FD21-06C1-D877701D84DE}"/>
              </a:ext>
            </a:extLst>
          </p:cNvPr>
          <p:cNvSpPr/>
          <p:nvPr/>
        </p:nvSpPr>
        <p:spPr>
          <a:xfrm>
            <a:off x="5785595" y="2446200"/>
            <a:ext cx="144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A796D-C2C8-57B2-71A2-8380900831E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36000" y="1831718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5E351-F32E-8BEE-6D4D-C05842684C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16000" y="2334211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AVG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CB1D68F-D66E-717E-09B2-8F08AE426E32}"/>
              </a:ext>
            </a:extLst>
          </p:cNvPr>
          <p:cNvSpPr/>
          <p:nvPr/>
        </p:nvSpPr>
        <p:spPr>
          <a:xfrm>
            <a:off x="8256000" y="2427636"/>
            <a:ext cx="711367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!!TextBoxMerge">
            <a:extLst>
              <a:ext uri="{FF2B5EF4-FFF2-40B4-BE49-F238E27FC236}">
                <a16:creationId xmlns:a16="http://schemas.microsoft.com/office/drawing/2014/main" id="{4581F460-2167-5A17-EC87-DCDD745646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796000" y="2145971"/>
            <a:ext cx="18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</a:t>
            </a:r>
          </a:p>
          <a:p>
            <a:pPr algn="ctr"/>
            <a:r>
              <a:rPr lang="en-US" dirty="0"/>
              <a:t>DIVISION</a:t>
            </a:r>
          </a:p>
          <a:p>
            <a:pPr algn="ctr"/>
            <a:r>
              <a:rPr lang="en-US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1008505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F37E-B9F4-C5F2-C898-42759B00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667EE-2D11-9DC6-0A01-2A997B63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BC7A3-65E1-CD4A-04CE-DCB0DD84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32A1C62-7600-C6E5-40B2-B2C790BAC493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GENERATING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F4964F-79DE-EFA4-A3A4-97C697C7B9F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94BC5-8B25-428A-1F55-03FEFB315F79}"/>
              </a:ext>
            </a:extLst>
          </p:cNvPr>
          <p:cNvSpPr/>
          <p:nvPr/>
        </p:nvSpPr>
        <p:spPr>
          <a:xfrm>
            <a:off x="3455381" y="1765115"/>
            <a:ext cx="2231026" cy="15012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Table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What operation to execute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54AC01BE-0B73-A69E-EE9D-A7C2B3F52243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8C9A40E-0286-8F46-F8CF-F44DA6AD9492}"/>
              </a:ext>
            </a:extLst>
          </p:cNvPr>
          <p:cNvSpPr/>
          <p:nvPr/>
        </p:nvSpPr>
        <p:spPr>
          <a:xfrm>
            <a:off x="5785595" y="2446200"/>
            <a:ext cx="144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29933-9081-0302-00EC-3A151316AE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36000" y="1831718"/>
            <a:ext cx="18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824C5-7989-914B-BFB2-7B979E736F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16000" y="2334211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AVG</a:t>
            </a:r>
          </a:p>
        </p:txBody>
      </p:sp>
      <p:sp>
        <p:nvSpPr>
          <p:cNvPr id="9" name="!!TextBoxMerge">
            <a:extLst>
              <a:ext uri="{FF2B5EF4-FFF2-40B4-BE49-F238E27FC236}">
                <a16:creationId xmlns:a16="http://schemas.microsoft.com/office/drawing/2014/main" id="{FF12CEE7-0B13-04D7-F817-3030B714908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216000" y="3847237"/>
            <a:ext cx="180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DIVISION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COUNT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B4C942E-916A-413A-DA12-0657C7EEE1F0}"/>
              </a:ext>
            </a:extLst>
          </p:cNvPr>
          <p:cNvSpPr/>
          <p:nvPr/>
        </p:nvSpPr>
        <p:spPr>
          <a:xfrm>
            <a:off x="4684085" y="3928078"/>
            <a:ext cx="1440000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9ACEED8-BD47-B6B5-B203-5D3F0EBECD0D}"/>
              </a:ext>
            </a:extLst>
          </p:cNvPr>
          <p:cNvSpPr/>
          <p:nvPr/>
        </p:nvSpPr>
        <p:spPr>
          <a:xfrm>
            <a:off x="4747736" y="4447618"/>
            <a:ext cx="1348263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5E5F67D-261B-15A1-1A9F-22A45279FA9A}"/>
              </a:ext>
            </a:extLst>
          </p:cNvPr>
          <p:cNvSpPr/>
          <p:nvPr/>
        </p:nvSpPr>
        <p:spPr>
          <a:xfrm>
            <a:off x="4747737" y="4967158"/>
            <a:ext cx="1348263" cy="22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2" descr="1: An example boolean circuit. | Download Scientific Diagram">
            <a:extLst>
              <a:ext uri="{FF2B5EF4-FFF2-40B4-BE49-F238E27FC236}">
                <a16:creationId xmlns:a16="http://schemas.microsoft.com/office/drawing/2014/main" id="{6B2C4970-C450-4DFA-2634-60E17D6D0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000" y="4157830"/>
            <a:ext cx="1398178" cy="93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MSC 121: Evaluating digital circuits">
            <a:extLst>
              <a:ext uri="{FF2B5EF4-FFF2-40B4-BE49-F238E27FC236}">
                <a16:creationId xmlns:a16="http://schemas.microsoft.com/office/drawing/2014/main" id="{AF351D0A-9EF0-05BF-2105-913AF599F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21" y="377422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CMSC 121: Evaluating digital circuits">
            <a:extLst>
              <a:ext uri="{FF2B5EF4-FFF2-40B4-BE49-F238E27FC236}">
                <a16:creationId xmlns:a16="http://schemas.microsoft.com/office/drawing/2014/main" id="{65B744D5-9789-2E88-F349-06B1B1B9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543" y="429744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CMSC 121: Evaluating digital circuits">
            <a:extLst>
              <a:ext uri="{FF2B5EF4-FFF2-40B4-BE49-F238E27FC236}">
                <a16:creationId xmlns:a16="http://schemas.microsoft.com/office/drawing/2014/main" id="{B78136A1-A182-BBD4-1777-578723BC1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021" y="4801345"/>
            <a:ext cx="1595821" cy="52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3A128C67-7EE8-5FE0-B7E0-A4DE3F14768F}"/>
              </a:ext>
            </a:extLst>
          </p:cNvPr>
          <p:cNvSpPr/>
          <p:nvPr/>
        </p:nvSpPr>
        <p:spPr>
          <a:xfrm rot="10800000">
            <a:off x="7919636" y="3847237"/>
            <a:ext cx="720000" cy="147157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225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CDDE5-0E4C-18B4-E7CC-D7EFD6BB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C1D78-99C8-0093-50DE-B03FCD2C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6C9E-338F-80C9-3285-C4B39C4AA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C9B285B-E5CA-2979-9E27-3F5D90EFEB7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Computing node – applying circuit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2E894C-F840-ACC8-3AA7-FF1802B754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56000" y="3319868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Computing node X</a:t>
            </a:r>
            <a:endParaRPr lang="de-DE" sz="1600" b="1" dirty="0">
              <a:solidFill>
                <a:schemeClr val="tx1"/>
              </a:solidFill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F9783A7E-40C1-F54F-7271-070C0018114E}"/>
              </a:ext>
            </a:extLst>
          </p:cNvPr>
          <p:cNvSpPr/>
          <p:nvPr/>
        </p:nvSpPr>
        <p:spPr>
          <a:xfrm>
            <a:off x="2706854" y="1519868"/>
            <a:ext cx="720000" cy="4680000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2" descr="1: An example boolean circuit. | Download Scientific Diagram">
            <a:extLst>
              <a:ext uri="{FF2B5EF4-FFF2-40B4-BE49-F238E27FC236}">
                <a16:creationId xmlns:a16="http://schemas.microsoft.com/office/drawing/2014/main" id="{762EAEF1-75F8-76D1-0526-1704908D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015" y="2433437"/>
            <a:ext cx="1398178" cy="93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8F4E1AA-9644-3DF2-3CA0-28333479C8DD}"/>
              </a:ext>
            </a:extLst>
          </p:cNvPr>
          <p:cNvGrpSpPr/>
          <p:nvPr/>
        </p:nvGrpSpPr>
        <p:grpSpPr>
          <a:xfrm>
            <a:off x="5105809" y="2819400"/>
            <a:ext cx="914400" cy="1370268"/>
            <a:chOff x="3910309" y="2613726"/>
            <a:chExt cx="914400" cy="1370268"/>
          </a:xfrm>
        </p:grpSpPr>
        <p:pic>
          <p:nvPicPr>
            <p:cNvPr id="8" name="Graphic 7" descr="Table outline">
              <a:extLst>
                <a:ext uri="{FF2B5EF4-FFF2-40B4-BE49-F238E27FC236}">
                  <a16:creationId xmlns:a16="http://schemas.microsoft.com/office/drawing/2014/main" id="{57CBD364-D2C3-26F7-FE8D-2C11B1FDC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10309" y="3069594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Binary with solid fill">
              <a:extLst>
                <a:ext uri="{FF2B5EF4-FFF2-40B4-BE49-F238E27FC236}">
                  <a16:creationId xmlns:a16="http://schemas.microsoft.com/office/drawing/2014/main" id="{3F18C386-2DF8-6F30-76B7-F09672210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62820" y="2613726"/>
              <a:ext cx="609378" cy="609378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FF29E25-00C5-D680-4CA7-7EC4BBC6287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843009" y="4189668"/>
            <a:ext cx="144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received from</a:t>
            </a:r>
          </a:p>
          <a:p>
            <a:pPr algn="ctr"/>
            <a:r>
              <a:rPr lang="en-US" dirty="0"/>
              <a:t>Data Owner</a:t>
            </a:r>
          </a:p>
        </p:txBody>
      </p:sp>
      <p:sp>
        <p:nvSpPr>
          <p:cNvPr id="17" name="!!mergeText">
            <a:extLst>
              <a:ext uri="{FF2B5EF4-FFF2-40B4-BE49-F238E27FC236}">
                <a16:creationId xmlns:a16="http://schemas.microsoft.com/office/drawing/2014/main" id="{9A80446A-E428-BD91-2CF7-D35BDCB1D523}"/>
              </a:ext>
            </a:extLst>
          </p:cNvPr>
          <p:cNvSpPr txBox="1"/>
          <p:nvPr/>
        </p:nvSpPr>
        <p:spPr>
          <a:xfrm>
            <a:off x="8616000" y="3460930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 #X</a:t>
            </a:r>
          </a:p>
        </p:txBody>
      </p:sp>
      <p:sp>
        <p:nvSpPr>
          <p:cNvPr id="27" name="!!ArrowIgnore">
            <a:extLst>
              <a:ext uri="{FF2B5EF4-FFF2-40B4-BE49-F238E27FC236}">
                <a16:creationId xmlns:a16="http://schemas.microsoft.com/office/drawing/2014/main" id="{BC6CA741-451D-3CC1-D30B-6BBCB7357A7B}"/>
              </a:ext>
            </a:extLst>
          </p:cNvPr>
          <p:cNvSpPr/>
          <p:nvPr/>
        </p:nvSpPr>
        <p:spPr>
          <a:xfrm>
            <a:off x="6350557" y="3511762"/>
            <a:ext cx="1935095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9746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7D72F-7DC9-6384-6796-BEE3FD7A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5C303764-8E09-F292-28BD-C7B278048D87}"/>
              </a:ext>
            </a:extLst>
          </p:cNvPr>
          <p:cNvGrpSpPr/>
          <p:nvPr/>
        </p:nvGrpSpPr>
        <p:grpSpPr>
          <a:xfrm>
            <a:off x="9180528" y="2329946"/>
            <a:ext cx="2160000" cy="3240000"/>
            <a:chOff x="9180528" y="2329946"/>
            <a:chExt cx="2160000" cy="32400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FC2E41F-8FDD-C92C-3600-FDDBAFF317C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180528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Owner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35" name="Graphic 34" descr="Table outline">
              <a:extLst>
                <a:ext uri="{FF2B5EF4-FFF2-40B4-BE49-F238E27FC236}">
                  <a16:creationId xmlns:a16="http://schemas.microsoft.com/office/drawing/2014/main" id="{56DB4533-A8C7-16DD-0781-74B337125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58880" y="4310600"/>
              <a:ext cx="914400" cy="914400"/>
            </a:xfrm>
            <a:prstGeom prst="rect">
              <a:avLst/>
            </a:prstGeom>
          </p:spPr>
        </p:pic>
        <p:pic>
          <p:nvPicPr>
            <p:cNvPr id="37" name="Graphic 36" descr="Hospital outline">
              <a:extLst>
                <a:ext uri="{FF2B5EF4-FFF2-40B4-BE49-F238E27FC236}">
                  <a16:creationId xmlns:a16="http://schemas.microsoft.com/office/drawing/2014/main" id="{795FE032-58CE-D553-21C0-78C6F1BF2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03328" y="2486491"/>
              <a:ext cx="914400" cy="9144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408FC-F51C-C896-71B6-B6620D6E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66FAB-4931-B106-63BA-73AA9EEB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F9A113-2491-6839-D8A7-44EF7B846BD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88299" y="2240504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1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008A55-03E2-BF00-9F04-138755E18B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70347" y="3497362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2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895DE-D25C-125E-C6B8-1392B7487B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370347" y="4754220"/>
            <a:ext cx="1440000" cy="10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Computing node 3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08A545-0561-8786-DFB3-9C3672513966}"/>
              </a:ext>
            </a:extLst>
          </p:cNvPr>
          <p:cNvSpPr/>
          <p:nvPr/>
        </p:nvSpPr>
        <p:spPr>
          <a:xfrm>
            <a:off x="7722575" y="2114752"/>
            <a:ext cx="3960000" cy="3845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6A6D57-5584-C3A1-830F-49D422373C9F}"/>
              </a:ext>
            </a:extLst>
          </p:cNvPr>
          <p:cNvSpPr txBox="1"/>
          <p:nvPr/>
        </p:nvSpPr>
        <p:spPr>
          <a:xfrm>
            <a:off x="993670" y="4310600"/>
            <a:ext cx="196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Receive and combine</a:t>
            </a:r>
            <a:endParaRPr lang="de-DE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FA15B1-E97D-1617-9F77-AA8CD73FCF08}"/>
              </a:ext>
            </a:extLst>
          </p:cNvPr>
          <p:cNvCxnSpPr>
            <a:cxnSpLocks/>
            <a:stCxn id="28" idx="1"/>
            <a:endCxn id="49" idx="3"/>
          </p:cNvCxnSpPr>
          <p:nvPr/>
        </p:nvCxnSpPr>
        <p:spPr>
          <a:xfrm flipH="1">
            <a:off x="2955648" y="2780504"/>
            <a:ext cx="2432651" cy="1853262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2D89AD-9122-06C3-153E-2AFB034E1BB9}"/>
              </a:ext>
            </a:extLst>
          </p:cNvPr>
          <p:cNvCxnSpPr>
            <a:cxnSpLocks/>
            <a:stCxn id="29" idx="1"/>
            <a:endCxn id="49" idx="3"/>
          </p:cNvCxnSpPr>
          <p:nvPr/>
        </p:nvCxnSpPr>
        <p:spPr>
          <a:xfrm flipH="1">
            <a:off x="2955648" y="4037362"/>
            <a:ext cx="2414699" cy="59640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63E008-EBC5-FCC1-929E-567CD6A045B0}"/>
              </a:ext>
            </a:extLst>
          </p:cNvPr>
          <p:cNvCxnSpPr>
            <a:cxnSpLocks/>
            <a:stCxn id="30" idx="1"/>
            <a:endCxn id="49" idx="3"/>
          </p:cNvCxnSpPr>
          <p:nvPr/>
        </p:nvCxnSpPr>
        <p:spPr>
          <a:xfrm flipH="1" flipV="1">
            <a:off x="2955648" y="4633766"/>
            <a:ext cx="2414699" cy="660454"/>
          </a:xfrm>
          <a:prstGeom prst="straightConnector1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!!mergeText">
            <a:extLst>
              <a:ext uri="{FF2B5EF4-FFF2-40B4-BE49-F238E27FC236}">
                <a16:creationId xmlns:a16="http://schemas.microsoft.com/office/drawing/2014/main" id="{B87EDF87-10B3-1B64-46F3-AA517F70EF3D}"/>
              </a:ext>
            </a:extLst>
          </p:cNvPr>
          <p:cNvSpPr txBox="1"/>
          <p:nvPr/>
        </p:nvSpPr>
        <p:spPr>
          <a:xfrm>
            <a:off x="3955719" y="3120334"/>
            <a:ext cx="115929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 #1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Result #3</a:t>
            </a:r>
            <a:endParaRPr lang="de-DE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3EDF71-34E4-EA3E-B5C5-89FCF0FCA5BB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19BAA10-A01A-4B05-BA5D-8C8A967A1C8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Doctor male outline">
              <a:extLst>
                <a:ext uri="{FF2B5EF4-FFF2-40B4-BE49-F238E27FC236}">
                  <a16:creationId xmlns:a16="http://schemas.microsoft.com/office/drawing/2014/main" id="{93276E8F-F7E1-15A0-A66F-E36FB7B17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26" name="Graphic 25" descr="Doctor female outline">
              <a:extLst>
                <a:ext uri="{FF2B5EF4-FFF2-40B4-BE49-F238E27FC236}">
                  <a16:creationId xmlns:a16="http://schemas.microsoft.com/office/drawing/2014/main" id="{5C476161-B9A7-CFB6-FBCF-3F5DA2F13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4A491E17-4D7F-4E00-FD9F-C167B7A9C63A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SEND RESULTS BACK TO DATA ANALYST</a:t>
            </a:r>
          </a:p>
        </p:txBody>
      </p:sp>
    </p:spTree>
    <p:extLst>
      <p:ext uri="{BB962C8B-B14F-4D97-AF65-F5344CB8AC3E}">
        <p14:creationId xmlns:p14="http://schemas.microsoft.com/office/powerpoint/2010/main" val="734464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9E49-54C1-D1CC-DBDD-F1146EEA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8E18B-EED4-E136-3151-A82E5EC1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6328B-4C59-43DE-9B01-F958D23315D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44B0E-F32E-7038-B86B-11BAD29C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7B5508C-C9C8-8E9B-3919-3797FDE83255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3446302" y="230191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combining</a:t>
            </a:r>
            <a:r>
              <a:rPr lang="de-DE" sz="2400" dirty="0"/>
              <a:t> </a:t>
            </a:r>
            <a:r>
              <a:rPr lang="de-DE" sz="2400" dirty="0" err="1"/>
              <a:t>computation</a:t>
            </a:r>
            <a:r>
              <a:rPr lang="de-DE" sz="2400" dirty="0"/>
              <a:t> </a:t>
            </a:r>
            <a:r>
              <a:rPr lang="de-DE" sz="2400" dirty="0" err="1"/>
              <a:t>result</a:t>
            </a:r>
            <a:r>
              <a:rPr lang="de-DE" sz="2400" dirty="0"/>
              <a:t>:</a:t>
            </a:r>
          </a:p>
        </p:txBody>
      </p: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3993F794-883A-3EFA-C4C1-A23BE633D5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3519" y="3563018"/>
            <a:ext cx="914400" cy="914400"/>
          </a:xfrm>
          <a:prstGeom prst="rect">
            <a:avLst/>
          </a:prstGeom>
        </p:spPr>
      </p:pic>
      <p:pic>
        <p:nvPicPr>
          <p:cNvPr id="12" name="Graphic 11" descr="Table outline">
            <a:extLst>
              <a:ext uri="{FF2B5EF4-FFF2-40B4-BE49-F238E27FC236}">
                <a16:creationId xmlns:a16="http://schemas.microsoft.com/office/drawing/2014/main" id="{54BB64F7-6785-2EE6-590C-29E707717A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75561" y="3563018"/>
            <a:ext cx="914400" cy="914400"/>
          </a:xfrm>
          <a:prstGeom prst="rect">
            <a:avLst/>
          </a:prstGeom>
        </p:spPr>
      </p:pic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6080D572-2F9B-B97C-723D-17ABF71B2F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5259" y="3563018"/>
            <a:ext cx="914400" cy="9144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F51CE22A-4BE9-1069-53AD-B11D1C77949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016000" y="3848432"/>
            <a:ext cx="6120000" cy="72191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XOR 		XOR		=</a:t>
            </a:r>
          </a:p>
        </p:txBody>
      </p:sp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B3E95C4F-E61F-B25D-1553-C4591FFAAD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3514" y="3563018"/>
            <a:ext cx="914400" cy="9144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CCA26A2-5A5F-58C2-8703-90377AD5516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6074750" y="4997821"/>
            <a:ext cx="8169817" cy="54677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b="1" dirty="0"/>
              <a:t>Output </a:t>
            </a:r>
            <a:r>
              <a:rPr lang="de-DE" sz="2400" b="1" dirty="0" err="1"/>
              <a:t>for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user</a:t>
            </a:r>
            <a:r>
              <a:rPr lang="de-DE" sz="2400" b="1" dirty="0"/>
              <a:t> in </a:t>
            </a:r>
            <a:r>
              <a:rPr lang="de-DE" sz="2400" b="1" dirty="0" err="1"/>
              <a:t>plaintext</a:t>
            </a:r>
            <a:endParaRPr lang="de-DE" sz="2400" b="1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A4F3BC-D7D9-F204-1808-3038421F7AC4}"/>
              </a:ext>
            </a:extLst>
          </p:cNvPr>
          <p:cNvSpPr/>
          <p:nvPr/>
        </p:nvSpPr>
        <p:spPr>
          <a:xfrm rot="5400000">
            <a:off x="9387987" y="4459503"/>
            <a:ext cx="62894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C14F58-4533-0394-90E2-553C7561CD33}"/>
              </a:ext>
            </a:extLst>
          </p:cNvPr>
          <p:cNvGrpSpPr/>
          <p:nvPr/>
        </p:nvGrpSpPr>
        <p:grpSpPr>
          <a:xfrm>
            <a:off x="894023" y="2329946"/>
            <a:ext cx="2160000" cy="3240000"/>
            <a:chOff x="894023" y="2329946"/>
            <a:chExt cx="2160000" cy="32400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79BF65-B3FC-0F3E-6A0C-3E1F9DD2953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4023" y="2329946"/>
              <a:ext cx="2160000" cy="324000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 Analyst</a:t>
              </a:r>
              <a:endParaRPr lang="de-DE" b="1" dirty="0">
                <a:solidFill>
                  <a:schemeClr val="tx1"/>
                </a:solidFill>
              </a:endParaRPr>
            </a:p>
          </p:txBody>
        </p:sp>
        <p:pic>
          <p:nvPicPr>
            <p:cNvPr id="7" name="Graphic 6" descr="Doctor male outline">
              <a:extLst>
                <a:ext uri="{FF2B5EF4-FFF2-40B4-BE49-F238E27FC236}">
                  <a16:creationId xmlns:a16="http://schemas.microsoft.com/office/drawing/2014/main" id="{0EB7F328-1794-682E-AFAE-AA3D13018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04663" y="2676495"/>
              <a:ext cx="762266" cy="762266"/>
            </a:xfrm>
            <a:prstGeom prst="rect">
              <a:avLst/>
            </a:prstGeom>
          </p:spPr>
        </p:pic>
        <p:pic>
          <p:nvPicPr>
            <p:cNvPr id="9" name="Graphic 8" descr="Doctor female outline">
              <a:extLst>
                <a:ext uri="{FF2B5EF4-FFF2-40B4-BE49-F238E27FC236}">
                  <a16:creationId xmlns:a16="http://schemas.microsoft.com/office/drawing/2014/main" id="{5BAFEFB6-9CC8-34D7-D65D-DA0793083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64249" y="2681159"/>
              <a:ext cx="762265" cy="76226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24BDE68-E0D4-01AD-DB73-79BEBB1A4FB5}"/>
              </a:ext>
            </a:extLst>
          </p:cNvPr>
          <p:cNvSpPr txBox="1"/>
          <p:nvPr/>
        </p:nvSpPr>
        <p:spPr>
          <a:xfrm>
            <a:off x="3996740" y="3232655"/>
            <a:ext cx="538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#1	Result #2	Result #3</a:t>
            </a:r>
            <a:endParaRPr lang="de-D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D0EC72E-C1B1-9037-667C-B68F5B413F75}"/>
              </a:ext>
            </a:extLst>
          </p:cNvPr>
          <p:cNvSpPr txBox="1">
            <a:spLocks/>
          </p:cNvSpPr>
          <p:nvPr/>
        </p:nvSpPr>
        <p:spPr>
          <a:xfrm>
            <a:off x="360000" y="189000"/>
            <a:ext cx="8616000" cy="9144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DATA ANALYST – COMBINE</a:t>
            </a:r>
          </a:p>
        </p:txBody>
      </p:sp>
    </p:spTree>
    <p:extLst>
      <p:ext uri="{BB962C8B-B14F-4D97-AF65-F5344CB8AC3E}">
        <p14:creationId xmlns:p14="http://schemas.microsoft.com/office/powerpoint/2010/main" val="3187550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 animBg="1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E2C563-9F42-1F98-AE26-898F4513E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18" y="2232011"/>
            <a:ext cx="7344582" cy="292805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616D49A-C831-761C-550D-CE8FB9C97B9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EXISTING WORK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01B2D-1004-2FF9-8383-7DF7DDD8CC99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14424" y="2709000"/>
            <a:ext cx="3936000" cy="3771000"/>
          </a:xfrm>
        </p:spPr>
        <p:txBody>
          <a:bodyPr/>
          <a:lstStyle/>
          <a:p>
            <a:r>
              <a:rPr lang="en-US" dirty="0"/>
              <a:t>SECRECY Framework</a:t>
            </a:r>
          </a:p>
          <a:p>
            <a:r>
              <a:rPr lang="en-US" dirty="0"/>
              <a:t>In C++</a:t>
            </a:r>
          </a:p>
          <a:p>
            <a:r>
              <a:rPr lang="en-US" dirty="0"/>
              <a:t>Tailored to Cloud Providers</a:t>
            </a:r>
          </a:p>
          <a:p>
            <a:r>
              <a:rPr lang="en-US" dirty="0"/>
              <a:t>No analogue in Rust</a:t>
            </a:r>
          </a:p>
          <a:p>
            <a:r>
              <a:rPr lang="en-US" dirty="0"/>
              <a:t>Slower networking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3EB286-FE8B-83B2-9614-CEAC4B849073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/>
          <a:p>
            <a:fld id="{5F220B2A-7E54-44E7-AFAF-28C0A85E3798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AD6D6-94DB-922C-4E1C-AA5D038ED4E4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565EE24-F682-E90C-A2DE-8EE680218D8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226072" y="5143457"/>
            <a:ext cx="9207600" cy="15504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Image Source: </a:t>
            </a:r>
            <a:r>
              <a:rPr lang="de-DE" sz="1200" dirty="0">
                <a:solidFill>
                  <a:schemeClr val="bg2">
                    <a:lumMod val="7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nsdi23-liagouris.pdf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904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A735-7840-1A41-07F4-718F5255F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DE78C-5F88-F524-421A-DC01B98C03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C616-7C93-18A7-F132-D7199CFE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2A89-D4DA-4387-AB83-5D0BE5409970}" type="datetime1">
              <a:rPr lang="de-DE" smtClean="0"/>
              <a:t>12.09.2025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356CC-AC66-2D82-39E0-040ECC01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415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5gsAAAAAAAAAAAAAIAD///////////////8AAAD///////////////8DAAAABAD///////8DAAAABA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7AqEMl81fhCqKEzsF67xiMEAAAAAAADAAAABAADAAAAAwADAAQA////////BQAAAAMAEAALRLnA3eOTb0S3B1G6sPVZCAQAAAABAAMAAAACAAMAAAABAAMAAAAEAP///////wMAAAAAAP///////wMAAAAAAP///////wQAAgD///////8FAAAABAAQAAuQ3YAFamOxSYuuQvteSXW3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sCoQyXzV+EKooTOwXrvGIwREYXRhAAUAAAAAAk5hbWUADQAAAExpbmtEYXRhTGlzdAAQVmVyc2lvbgABAAAACUxhc3RXcml0ZQA7GZYzmQEAAAABAP////9hAGEAAAAFX2lkABAAAAAERLnA3eOTb0S3B1G6sPVZCAREYXRhAAUAAAAAAk5hbWUADQAAAExpbmtEYXRhTGlzdAAQVmVyc2lvbgAAAAAACUxhc3RXcml0ZQA7GZYzmQEAAAACAP////9wAHAAAAAFX2lkABAAAAAEkN2ABWpjsUmLrkL7Xkl1twNEYXRhABYAAAACUGVyc29uYWxJZAABAAAAAAACTmFtZQALAAAAUGVyc29uYWxJZAAQVmVyc2lvbgAAAAAACUxhc3RXcml0ZQBPGZY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QBAwAAAAMA////////DgAGTGlua0RhdGFMaXN0XzAEAAAAAQAFAAAAAAAFAAAAAgAFAAAAAAD///////8FAAAAAAD///////8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38990149332"/>
  <p:tag name="EMPOWERCHARTSPROPERTIES_B_LENGTH" val="24576"/>
  <p:tag name="DOWN_MIGRATION_INITIAL_LAYOUT_REQUIRED" val="9.2.99"/>
  <p:tag name="RUNTIME_ID" val="b6fc2ea5-4440-4892-a3bb-f89537d5944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Aow7mc/PZIuRyETPBIZqgEAAAAAAADAAAABAADAAAAAwADAAIA////////BQAAAAMAEAALxMwJwQJykUG0Jg8zhdCLiAQAAAABAAMAAAACAAMAAAABAAMAAAAAAP///////wQAAQD///////8FAAAABAAQAAuou9ieKUxGTKjcBHHUI31Z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CjDuZz89ki5HIRM8EhmqAREYXRhAAUAAAAAAk5hbWUADQAAAExpbmtEYXRhTGlzdAAQVmVyc2lvbgABAAAACUxhc3RXcml0ZQCh1YEzmQEAAAABAP////9hAGEAAAAFX2lkABAAAAAExMwJwQJykUG0Jg8zhdCLiAREYXRhAAUAAAAAAk5hbWUADQAAAExpbmtEYXRhTGlzdAAQVmVyc2lvbgAAAAAACUxhc3RXcml0ZQCh1YEzmQEAAAACAP////9wAHAAAAAFX2lkABAAAAAEqLvYnilMRkyo3ARx1CN9WQNEYXRhABYAAAACUGVyc29uYWxJZAABAAAAAAACTmFtZQALAAAAUGVyc29uYWxJZAAQVmVyc2lvbgAAAAAACUxhc3RXcml0ZQDB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09613438"/>
  <p:tag name="EMPOWERCHARTSPROPERTIES_B_LENGTH" val="24576"/>
  <p:tag name="DOWN_MIGRATION_INITIAL_LAYOUT_REQUIRED" val="9.2.99"/>
  <p:tag name="RUNTIME_ID" val="1f7799d0-4b5f-4143-bf0b-c9ded79663b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0Ez5ncNgN9ItDCfCKlyeaEEAAAAAAADAAAAAAADAAAAAwADAAIA////////BQAAAAMAEAALVWleuLQYb0uMMkf/vzN3qgQAAAABAAMAAAACAAMAAAAEAAMAAAAAAAMAAAAEAAQAAwD///////8FAAAABAAQAAspp/C5amI2S6ThIQsu6T7C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QTPmdw2A30i0MJ8IqXJ5oQREYXRhAAUAAAAAAk5hbWUADQAAAExpbmtEYXRhTGlzdAAQVmVyc2lvbgAAAAAACUxhc3RXcml0ZQDh1YEzmQEAAAABAP////9hAGEAAAAFX2lkABAAAAAEVWleuLQYb0uMMkf/vzN3qgREYXRhAAUAAAAAAk5hbWUADQAAAExpbmtEYXRhTGlzdAAQVmVyc2lvbgABAAAACUxhc3RXcml0ZQDh1YEzmQEAAAACAP////9wAHAAAAAFX2lkABAAAAAEKafwuWpiNkuk4SELLuk+wgNEYXRhABYAAAACUGVyc29uYWxJZAABAAAAAAACTmFtZQALAAAAUGVyc29uYWxJZAAQVmVyc2lvbgAAAAAACUxhc3RXcml0ZQD11Y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AFAAAABAAEAAIBAwAAAAQA////////DAAGUGVyc29uYWxJZF8wBAAAAAIABQAAAAM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091273"/>
  <p:tag name="EMPOWERCHARTSPROPERTIES_B_LENGTH" val="24576"/>
  <p:tag name="DOWN_MIGRATION_INITIAL_LAYOUT_REQUIRED" val="9.2.99"/>
  <p:tag name="RUNTIME_ID" val="d216054b-03f6-43d0-b260-de538ea8ffd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/////wUA/gsAAAAAAAAAAAAAIAD///////////////8AAAD////////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Kxeoex9shMrDNP76Fsts4EAAAAAAADAAAABAADAAAAAwADAAEA////////BQAAAAMAEAALySfz4Ew+aE2TBg1MOL8ZUQQAAAABAAMAAAACAAMAAAABAAQAAwD///////8FAAAABAAQAAv+k2oulQP4SbD2BpByCQplBAAAAAIAAwAAAAAAAwAAAAI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rF6h7H2yEysM0/voWy2zgREYXRhAAUAAAAAAk5hbWUADQAAAExpbmtEYXRhTGlzdAAQVmVyc2lvbgABAAAACUxhc3RXcml0ZQAR1oEzmQEAAAABAP////9hAGEAAAAFX2lkABAAAAAEySfz4Ew+aE2TBg1MOL8ZUQREYXRhAAUAAAAAAk5hbWUADQAAAExpbmtEYXRhTGlzdAAQVmVyc2lvbgAAAAAACUxhc3RXcml0ZQAR1oEzmQEAAAACAP////9wAHAAAAAFX2lkABAAAAAE/pNqLpUD+Emw9gaQcgkKZQNEYXRhABYAAAACUGVyc29uYWxJZAABAAAAAAACTmFtZQALAAAAUGVyc29uYWxJZAAQVmVyc2lvbgAAAAAACUxhc3RXcml0ZQAq1oE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5710662344"/>
  <p:tag name="EMPOWERCHARTSPROPERTIES_B_LENGTH" val="24576"/>
  <p:tag name="DOWN_MIGRATION_INITIAL_LAYOUT_REQUIRED" val="9.2.99"/>
  <p:tag name="RUNTIME_ID" val="e148a853-29e0-4f9c-8ac2-678aa45bfb4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29oGJmsQu1AkVKBdqt6ChYEAAAAAAADAAAABAADAAAAAwADAAIA////////BQAAAAMAEAALaBFo6u95e0OgqlaWTAUxVAQAAAABAAMAAAACAAMAAAABAAMAAAAEAP///////wQAAgD///////8FAAAABAAQAAtL8+xJ2z1uSpFA6MJEkCk2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b2gYmaxC7UCRUoF2q3oKFgREYXRhAAUAAAAAAk5hbWUADQAAAExpbmtEYXRhTGlzdAAQVmVyc2lvbgABAAAACUxhc3RXcml0ZQAKuX4zmQEAAAABAP////9hAGEAAAAFX2lkABAAAAAEaBFo6u95e0OgqlaWTAUxVAREYXRhAAUAAAAAAk5hbWUADQAAAExpbmtEYXRhTGlzdAAQVmVyc2lvbgAAAAAACUxhc3RXcml0ZQAKuX4zmQEAAAACAP////9wAHAAAAAFX2lkABAAAAAES/PsSds9bkqRQOjCRJApNgNEYXRhABYAAAACUGVyc29uYWxJZAABAAAAAAACTmFtZQALAAAAUGVyc29uYWxJZAAQVmVyc2lvbgAAAAAACUxhc3RXcml0ZQAZuX4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23670291157"/>
  <p:tag name="EMPOWERCHARTSPROPERTIES_B_LENGTH" val="24576"/>
  <p:tag name="DOWN_MIGRATION_INITIAL_LAYOUT_REQUIRED" val="9.2.99"/>
  <p:tag name="RUNTIME_ID" val="925c80b2-653f-4487-8f2b-140f1893a58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MBAQEBAQEBAQEBAQEBAQMAAAAAAAAAAwAAAAMAAAAA/////wUAwgsAAAAAAAAAAAAAIAD///////////////8AAAD///////////////8DAAAAAgD///////8DAAAAAgD///////8DAAAAAg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tzaQipuD1HjOSUaWytLKkEAAAAAAADAAAAAAADAAAAAwADAAAAAAADAAAABAADAAAAAAADAAAABAADAAEA////////BQAAAAMAEAALEbiGV3pjf0+rwWHoWvWj+gQAAAABAAMAAAACAAMAAAAEAAQABgD///////8FAAAABAAQAAu2K0ym6R5PTpEtxaenrCoQBAAAAAIAAwAAAAMAAwAAAAEAAwAAAAIA////////AwAAAAI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e3NpCKm4PUeM5JRpbK0sqQREYXRhAAUAAAAAAk5hbWUADQAAAExpbmtEYXRhTGlzdAAQVmVyc2lvbgAAAAAACUxhc3RXcml0ZQCnfngzmQEAAAABAP////9hAGEAAAAFX2lkABAAAAAEEbiGV3pjf0+rwWHoWvWj+gREYXRhAAUAAAAAAk5hbWUADQAAAExpbmtEYXRhTGlzdAAQVmVyc2lvbgABAAAACUxhc3RXcml0ZQCsfngzmQEAAAACAP////9wAHAAAAAFX2lkABAAAAAEtitMpukeT06RLcWnp6wqEANEYXRhABYAAAACUGVyc29uYWxJZAABAAAAAAACTmFtZQALAAAAUGVyc29uYWxJZAAQVmVyc2lvbgAAAAAACUxhc3RXcml0ZQDSfn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GDA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D///////8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88851212"/>
  <p:tag name="EMPOWERCHARTSPROPERTIES_B_LENGTH" val="24576"/>
  <p:tag name="DOWN_MIGRATION_INITIAL_LAYOUT_REQUIRED" val="9.2.99"/>
  <p:tag name="RUNTIME_ID" val="31c4a74c-070c-4818-aba0-ffe9760b42b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nKvyyZ2c1PvSK2f9uQGXwEAAAAAAADAAAAAAADAAAABAADAAIA////////BQAAAAMAEAALYlQH28jWZEaV+nPkSBoxeAQAAAABAAMAAAAEAAMAAAABAAMAAAAEAP///////wQAAgD///////8FAAAABAAQAAuy71U2DR1ARZ8Z6eZeBha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6cq/LJnZzU+9IrZ/25AZfAREYXRhAAUAAAAAAk5hbWUADQAAAExpbmtEYXRhTGlzdAAQVmVyc2lvbgABAAAACUxhc3RXcml0ZQBBf3gzmQEAAAABAP////9hAGEAAAAFX2lkABAAAAAEYlQH28jWZEaV+nPkSBoxeAREYXRhAAUAAAAAAk5hbWUADQAAAExpbmtEYXRhTGlzdAAQVmVyc2lvbgAAAAAACUxhc3RXcml0ZQA/f3gzmQEAAAACAP////9wAHAAAAAFX2lkABAAAAAEsu9VNg0dQEWfGenmXgYWlwNEYXRhABYAAAACUGVyc29uYWxJZAABAAAAAAACTmFtZQALAAAAUGVyc29uYWxJZAAQVmVyc2lvbgAAAAAACUxhc3RXcml0ZQBm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373196"/>
  <p:tag name="EMPOWERCHARTSPROPERTIES_B_LENGTH" val="24576"/>
  <p:tag name="DOWN_MIGRATION_INITIAL_LAYOUT_REQUIRED" val="9.2.99"/>
  <p:tag name="RUNTIME_ID" val="effe2edd-1843-4d84-a499-319c4d31cc1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/////wUA5gsAAAAAAAAAAAAAIAD///////////////8AAAD///////////////8DAAAABA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wuvToTpkdBFlc5Rz4h9Pq0EAAAAAAADAAAABAADAAAAAwADAAIA////////BQAAAAMAEAALmcJLjJL8F0yIIvN7rDn9kwQAAAABAAMAAAACAAMAAAABAAMAAAAEAP///////wQABAD///////8FAAAABAAQAAt8mcU5+eMpSagoJ/2PLGj3BAAAAAIAAwAAAAAAAwAAAAIAAwAAAAAAAwAAAAMA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C69OhOmR0EWVzlHPiH0+rQREYXRhAAUAAAAAAk5hbWUADQAAAExpbmtEYXRhTGlzdAAQVmVyc2lvbgAAAAAACUxhc3RXcml0ZQCJf3gzmQEAAAABAP////9hAGEAAAAFX2lkABAAAAAEmcJLjJL8F0yIIvN7rDn9kwREYXRhAAUAAAAAAk5hbWUADQAAAExpbmtEYXRhTGlzdAAQVmVyc2lvbgABAAAACUxhc3RXcml0ZQCJf3gzmQEAAAACAP////9wAHAAAAAFX2lkABAAAAAEfJnFOfnjKUmoKCf9jyxo9wNEYXRhABYAAAACUGVyc29uYWxJZAABAAAAAAACTmFtZQALAAAAUGVyc29uYWxJZAAQVmVyc2lvbgAAAAAACUxhc3RXcml0ZQCd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IBAwAAAAMA////////DgAGTGlua0RhdGFMaXN0XzEEAAAAAQAFAAAAAgAFAAAABAAFAAAAAAD///////8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0886291"/>
  <p:tag name="EMPOWERCHARTSPROPERTIES_B_LENGTH" val="24576"/>
  <p:tag name="DOWN_MIGRATION_INITIAL_LAYOUT_REQUIRED" val="9.2.99"/>
  <p:tag name="RUNTIME_ID" val="60763b65-1a6a-4bdb-8e2b-89248acaa89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/FjlImD51lBvNCmw2Cg7jkEAAAAAAADAAAABAADAAAAAwADAAIA////////BQAAAAMAEAALST5Ikuy6AUSWGOfKrMDd8wQAAAABAAMAAAACAAMAAAABAAMAAAAEAP///////wQAAgD///////8FAAAABAAQAAsuJxkvSjH0RbYHjdC/ffg+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8WOUiYPnWUG80KbDYKDuOQREYXRhAAUAAAAAAk5hbWUADQAAAExpbmtEYXRhTGlzdAAQVmVyc2lvbgABAAAACUxhc3RXcml0ZQC6f3gzmQEAAAABAP////9hAGEAAAAFX2lkABAAAAAEST5Ikuy6AUSWGOfKrMDd8wREYXRhAAUAAAAAAk5hbWUADQAAAExpbmtEYXRhTGlzdAAQVmVyc2lvbgAAAAAACUxhc3RXcml0ZQC6f3gzmQEAAAACAP////9wAHAAAAAFX2lkABAAAAAELicZL0ox9EW2B43Qv334PgNEYXRhABYAAAACUGVyc29uYWxJZAABAAAAAAACTmFtZQALAAAAUGVyc29uYWxJZAAQVmVyc2lvbgAAAAAACUxhc3RXcml0ZQDOf3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IBAwAAAAMA////////DgAGTGlua0RhdGFMaXN0XzAEAAAAAQAFAAAAAAAFAAAAAgAFAAAAAAD///////8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356098"/>
  <p:tag name="EMPOWERCHARTSPROPERTIES_B_LENGTH" val="24576"/>
  <p:tag name="DOWN_MIGRATION_INITIAL_LAYOUT_REQUIRED" val="9.2.99"/>
  <p:tag name="RUNTIME_ID" val="b847d9b5-8017-4ad5-a9a0-4c22c5e6bcc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/////wUACgwAAAAAAAAAAAAAIAD///////////////8AAAD////////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yA1caC9LWZLrR0Fygm1itkEAAAAAAADAAAABAADAAAAAwADAAEA////////BQAAAAMAEAALHKmhxkewkECCDW0e5WJCzgQAAAABAAMAAAACAAMAAAABAAQAAgD///////8FAAAABAAQAAuYbL6d8sI3R785RVZZmwFfBAAAAAIAAwAAAAAAAwAAAAIA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IDVxoL0tZkutHQXKCbWK2QREYXRhAAUAAAAAAk5hbWUADQAAAExpbmtEYXRhTGlzdAAQVmVyc2lvbgAAAAAACUxhc3RXcml0ZQDof3gzmQEAAAABAP////9hAGEAAAAFX2lkABAAAAAEHKmhxkewkECCDW0e5WJCzgREYXRhAAUAAAAAAk5hbWUADQAAAExpbmtEYXRhTGlzdAAQVmVyc2lvbgABAAAACUxhc3RXcml0ZQDpf3gzmQEAAAACAP////9wAHAAAAAFX2lkABAAAAAEmGy+nfLCN0e/OUVWWZsBXwNEYXRhABYAAAACUGVyc29uYWxJZAABAAAAAAACTmFtZQALAAAAUGVyc29uYWxJZAAQVmVyc2lvbgAAAAAACUxhc3RXcml0ZQABgHgz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AEAAAAAAAFAAAAAAAFAAAAAwADAAEBAwAAAAMA////////DgAGTGlua0RhdGFMaXN0XzEEAAAAAQAFAAAAAgAFAAAABAAEAAQBAwAAAAQA////////DAAGUGVyc29uYWxJZF8wBAAAAAIABQAAAAMABQAAAAEABQAAAAAA////////BQAAAAAA////////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931019591867016"/>
  <p:tag name="EMPOWERCHARTSPROPERTIES_B_LENGTH" val="24576"/>
  <p:tag name="DOWN_MIGRATION_INITIAL_LAYOUT_REQUIRED" val="9.2.99"/>
  <p:tag name="RUNTIME_ID" val="f7b03086-9405-409c-a22e-bc64eaa69996"/>
</p:tagLst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916</Words>
  <Application>Microsoft Office PowerPoint</Application>
  <PresentationFormat>Widescreen</PresentationFormat>
  <Paragraphs>396</Paragraphs>
  <Slides>34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Arial Black</vt:lpstr>
      <vt:lpstr>Calibri</vt:lpstr>
      <vt:lpstr>Wingdings</vt:lpstr>
      <vt:lpstr>Template</vt:lpstr>
      <vt:lpstr>Framework for efficient Secure Collaborative Analytics</vt:lpstr>
      <vt:lpstr>Goal: </vt:lpstr>
      <vt:lpstr>Goal: </vt:lpstr>
      <vt:lpstr>Goal: </vt:lpstr>
      <vt:lpstr>Goal: </vt:lpstr>
      <vt:lpstr>Goal of THE framework: </vt:lpstr>
      <vt:lpstr>Goal of THE framework: </vt:lpstr>
      <vt:lpstr>Goal of THE framework: </vt:lpstr>
      <vt:lpstr>Goal of THE framework: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2023-05-22T13:03:01Z</dcterms:created>
  <dcterms:modified xsi:type="dcterms:W3CDTF">2025-09-12T05:56:35Z</dcterms:modified>
</cp:coreProperties>
</file>