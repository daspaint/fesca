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7" r:id="rId2"/>
    <p:sldId id="375" r:id="rId3"/>
    <p:sldId id="373" r:id="rId4"/>
    <p:sldId id="376" r:id="rId5"/>
    <p:sldId id="377" r:id="rId6"/>
    <p:sldId id="382" r:id="rId7"/>
    <p:sldId id="392" r:id="rId8"/>
    <p:sldId id="406" r:id="rId9"/>
    <p:sldId id="407" r:id="rId10"/>
    <p:sldId id="268" r:id="rId11"/>
    <p:sldId id="400" r:id="rId12"/>
    <p:sldId id="401" r:id="rId13"/>
    <p:sldId id="404" r:id="rId14"/>
    <p:sldId id="405" r:id="rId15"/>
    <p:sldId id="396" r:id="rId16"/>
    <p:sldId id="397" r:id="rId17"/>
    <p:sldId id="398" r:id="rId18"/>
    <p:sldId id="399" r:id="rId19"/>
    <p:sldId id="271" r:id="rId20"/>
    <p:sldId id="272" r:id="rId21"/>
    <p:sldId id="270" r:id="rId22"/>
    <p:sldId id="273" r:id="rId23"/>
    <p:sldId id="265" r:id="rId24"/>
    <p:sldId id="395" r:id="rId25"/>
    <p:sldId id="381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9D7DF5-0772-4088-590C-7D7DB16F7E49}" name="Mimoun  Mendoughe" initials="MM" userId="S::mimoun.mendoughe@stud.tu-darmstadt.de::ef440987-4794-4e96-95ee-0f71891efd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0"/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7"/>
    <p:restoredTop sz="94599"/>
  </p:normalViewPr>
  <p:slideViewPr>
    <p:cSldViewPr showGuides="1">
      <p:cViewPr>
        <p:scale>
          <a:sx n="106" d="100"/>
          <a:sy n="106" d="100"/>
        </p:scale>
        <p:origin x="1968" y="111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E2774-FCC6-3849-815E-3669A8972351}" type="datetime1">
              <a:rPr lang="en-US" smtClean="0">
                <a:solidFill>
                  <a:srgbClr val="898989"/>
                </a:solidFill>
              </a:rPr>
              <a:t>9/11/25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Cysec | Applied Cryptography | Mimoun Mendoughe</a:t>
            </a:r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228B3F5-F5F5-CC46-AC69-D894EEABD123}" type="datetime1">
              <a:rPr lang="en-US" smtClean="0"/>
              <a:t>9/11/25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Cysec | Applied Cryptography | Mimoun Mendoughe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C70A-F0F4-6706-CE7C-F5118EE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8BE9-08C5-8D25-E384-A937D65D9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977D7-DA2A-A4F8-2418-FBE6B23D9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7D30-9327-66EB-6D32-992CEC25BF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BBFA-0BBE-0BE4-E00B-34539BB40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D0883-9BB4-315A-E9AA-4DA1FC7B2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181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02A1-AB78-9539-06C2-0B4C4D13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4C1E9-E136-E8C2-FDE2-9D22D418E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B91FB-EDEE-7565-91A9-15EA52865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CFDD-3B77-4EEC-B6B6-21E765E1B3B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E3550-4BAE-AECB-BD61-12956C8811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9A2B-DC2B-5D8B-8053-2DD504D8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22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1C90-AB26-52A7-1C37-E507DEF9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F49FD-6455-CB1F-9CC6-A4D5CF56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6A906-B551-68B2-3781-AB461E07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502CE-51F4-7C7F-3E14-9FE7D29FFC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1167-94F6-C8C8-DDAA-DC847A17B1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3538-2BCF-CF37-57E2-F6F6B31C7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58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F7BB-98BD-AD39-4DC7-EE2245F3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1F473-8B14-3326-771C-52BF1901B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B8216-DC4E-43FB-374F-DA44F0EC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62B8B-2420-0DE6-0816-77F5B31B915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433E5-E38B-16B8-50CE-BF68E100D2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44F4-8D6F-6584-F780-47AA7AD58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01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7859-1083-8495-D54C-0CCC7EC8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A898A-AF5A-968A-43F3-F0BB5285A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448D5-6C10-FDCE-8FB9-12280B8A4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1B6D-BB88-1B69-7A7F-4559F7E506D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54B3-232D-D6E5-2C41-F92083490D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2FB2-682C-55F8-833B-DB0C9D5B5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74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8687-AC42-543E-C711-537C825A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E1C4-EC45-18C2-E954-109FB698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049E0-DD94-6368-9521-12F893C0F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1C6A6-68D0-A10E-CA9D-C48950825C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75D4-BFAA-D7DC-0735-0F5739ECDF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06418-422A-7056-F50A-98C4FF1F8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170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CDE3-25D0-D740-9F09-CADC0F3D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0B18F-33D9-99D3-0F30-158C54E76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CCD6F-F40F-810F-0EE9-ECA94E5C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5C45-A657-2EA4-A4C9-8B13091BE7D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BFBA-DA60-EB3D-0C51-16C9E2B784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9C313-DAE9-0DC5-A8E9-CCB90ABD6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847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E7F0-9663-FA07-AC65-9B769E91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6A267-CEDB-4842-E3B0-2A40708A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7C75A-6916-C872-3678-81CFF64F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B833-14C0-2A66-70B3-CD205414DE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C1D94-7113-26ED-A501-D1136D59B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750A-0449-7444-2DF8-4FDD3EECE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10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0581-52F3-5F73-F66C-D3432EFD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1E216-7BDA-C6B4-834C-26586BE9B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B7314-21D8-50E5-64F6-114D7A8A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3F22A-4B9C-4F55-AD60-7DEAA629DBF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9/11/25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9A70E-6BAA-D4D7-94D3-4012E08CC7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A42E-0B13-2C16-2097-1F1B77536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378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8041-7462-4497-839E-501727F94670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8A71-A3AD-E94E-9264-0537EFB9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818F9-E1C8-5660-5E0E-E1C5951A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6294-496B-43CC-AAD9-6D12554B34CC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2EAD5-418E-8002-E5A1-1A462C8C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93920-E015-C12D-0E28-A4C70244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65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7A1A-2F89-433D-A732-D122FBEF72B4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B7E7-F067-457C-BA04-DEDD669A889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E8D-0739-4C28-BB97-1D61527BFECF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B8D1-90B3-4E44-893B-392224B51B52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FD3D-D8C4-4102-9424-20C07C0FDF43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8747-4636-4AA2-B913-FB458803DE32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86294-496B-43CC-AAD9-6D12554B34CC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9" r:id="rId3"/>
    <p:sldLayoutId id="2147483665" r:id="rId4"/>
    <p:sldLayoutId id="2147483666" r:id="rId5"/>
    <p:sldLayoutId id="2147483650" r:id="rId6"/>
    <p:sldLayoutId id="2147483651" r:id="rId7"/>
    <p:sldLayoutId id="2147483667" r:id="rId8"/>
    <p:sldLayoutId id="2147483668" r:id="rId9"/>
    <p:sldLayoutId id="2147483661" r:id="rId10"/>
    <p:sldLayoutId id="2147483654" r:id="rId11"/>
    <p:sldLayoutId id="2147483655" r:id="rId12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6.svg"/><Relationship Id="rId5" Type="http://schemas.openxmlformats.org/officeDocument/2006/relationships/tags" Target="../tags/tag5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11.xml"/><Relationship Id="rId16" Type="http://schemas.openxmlformats.org/officeDocument/2006/relationships/image" Target="../media/image6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6.svg"/><Relationship Id="rId5" Type="http://schemas.openxmlformats.org/officeDocument/2006/relationships/tags" Target="../tags/tag14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13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9.xml"/><Relationship Id="rId7" Type="http://schemas.openxmlformats.org/officeDocument/2006/relationships/image" Target="../media/image14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0.xml"/><Relationship Id="rId9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23.xml"/><Relationship Id="rId7" Type="http://schemas.openxmlformats.org/officeDocument/2006/relationships/image" Target="../media/image14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4.xml"/><Relationship Id="rId9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18" Type="http://schemas.openxmlformats.org/officeDocument/2006/relationships/image" Target="../media/image32.svg"/><Relationship Id="rId3" Type="http://schemas.openxmlformats.org/officeDocument/2006/relationships/tags" Target="../tags/tag27.xml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1.png"/><Relationship Id="rId2" Type="http://schemas.openxmlformats.org/officeDocument/2006/relationships/tags" Target="../tags/tag26.xml"/><Relationship Id="rId16" Type="http://schemas.openxmlformats.org/officeDocument/2006/relationships/image" Target="../media/image14.svg"/><Relationship Id="rId20" Type="http://schemas.openxmlformats.org/officeDocument/2006/relationships/image" Target="../media/image34.svg"/><Relationship Id="rId1" Type="http://schemas.openxmlformats.org/officeDocument/2006/relationships/tags" Target="../tags/tag25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27.png"/><Relationship Id="rId5" Type="http://schemas.openxmlformats.org/officeDocument/2006/relationships/tags" Target="../tags/tag29.xml"/><Relationship Id="rId15" Type="http://schemas.openxmlformats.org/officeDocument/2006/relationships/image" Target="../media/image13.png"/><Relationship Id="rId10" Type="http://schemas.openxmlformats.org/officeDocument/2006/relationships/image" Target="../media/image26.svg"/><Relationship Id="rId19" Type="http://schemas.openxmlformats.org/officeDocument/2006/relationships/image" Target="../media/image33.png"/><Relationship Id="rId4" Type="http://schemas.openxmlformats.org/officeDocument/2006/relationships/tags" Target="../tags/tag28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18" Type="http://schemas.openxmlformats.org/officeDocument/2006/relationships/image" Target="../media/image32.svg"/><Relationship Id="rId3" Type="http://schemas.openxmlformats.org/officeDocument/2006/relationships/tags" Target="../tags/tag32.xml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1.png"/><Relationship Id="rId2" Type="http://schemas.openxmlformats.org/officeDocument/2006/relationships/tags" Target="../tags/tag31.xml"/><Relationship Id="rId16" Type="http://schemas.openxmlformats.org/officeDocument/2006/relationships/image" Target="../media/image14.svg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27.png"/><Relationship Id="rId5" Type="http://schemas.openxmlformats.org/officeDocument/2006/relationships/tags" Target="../tags/tag34.xml"/><Relationship Id="rId1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tags" Target="../tags/tag33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2.svg"/><Relationship Id="rId3" Type="http://schemas.openxmlformats.org/officeDocument/2006/relationships/tags" Target="../tags/tag38.xml"/><Relationship Id="rId7" Type="http://schemas.openxmlformats.org/officeDocument/2006/relationships/image" Target="../media/image24.svg"/><Relationship Id="rId12" Type="http://schemas.openxmlformats.org/officeDocument/2006/relationships/image" Target="../media/image3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14.svg"/><Relationship Id="rId10" Type="http://schemas.openxmlformats.org/officeDocument/2006/relationships/image" Target="../media/image27.png"/><Relationship Id="rId4" Type="http://schemas.openxmlformats.org/officeDocument/2006/relationships/tags" Target="../tags/tag39.xml"/><Relationship Id="rId9" Type="http://schemas.openxmlformats.org/officeDocument/2006/relationships/image" Target="../media/image26.svg"/><Relationship Id="rId1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enix.org/system/files/nsdi23-liagouris.pdf" TargetMode="External"/><Relationship Id="rId3" Type="http://schemas.openxmlformats.org/officeDocument/2006/relationships/tags" Target="../tags/tag42.xml"/><Relationship Id="rId7" Type="http://schemas.openxmlformats.org/officeDocument/2006/relationships/image" Target="../media/image35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4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46.xml"/><Relationship Id="rId16" Type="http://schemas.openxmlformats.org/officeDocument/2006/relationships/image" Target="../media/image6.png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16.svg"/><Relationship Id="rId5" Type="http://schemas.openxmlformats.org/officeDocument/2006/relationships/tags" Target="../tags/tag49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8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219B-1747-5FC8-BF94-9177D9ED2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3069000"/>
            <a:ext cx="9360000" cy="1080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Framework for efficient Secure Collaborative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213EB-E881-AA5F-8DB0-E318BB9C3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4351379"/>
            <a:ext cx="9360000" cy="1468800"/>
          </a:xfrm>
        </p:spPr>
        <p:txBody>
          <a:bodyPr/>
          <a:lstStyle/>
          <a:p>
            <a:r>
              <a:rPr lang="en-US" dirty="0"/>
              <a:t>Mimoun Mendoughe &amp; Darya </a:t>
            </a:r>
            <a:r>
              <a:rPr lang="en-US" dirty="0" err="1"/>
              <a:t>Igonina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7E4A-B65E-BF8A-D585-D1A3A886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B324C-BB9E-C4EC-8243-3172BDA6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1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6F69-EA99-B776-C46A-CCCBC31F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C31F-2DCC-1D2A-C3A4-062E0203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B0E-C7D7-2243-1D53-93B2791421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68295-A4BB-5016-8886-5C2D19E8D6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5188EEA3-ADC2-4940-7829-1EA9A7ADD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FBD789E7-DA82-C732-80F3-7B5576D357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7356A3ED-5CCE-A04C-B8CB-90701B6D8A0B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F08F7B8-8F07-D788-892A-28BBE96E11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80D4AAF9-06BC-6FB8-3997-69CC9ACC0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97B125FD-9958-4C7A-F42D-6DBAE1921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5D5D442-5EF0-E595-3D43-FD5E52C323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FA2CFF1-413B-CD24-5949-931FCF7332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A4C51F41-16A9-9C84-3138-91963F6A4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44409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9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A680-9605-D7BF-A6E6-BF99DC45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176D-E415-4CCE-C132-A617B3BF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2378-58D1-ED0B-B0CE-A8DA15AEA8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77CAE-D354-AE2F-D738-7C1555B92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E67FA517-F671-7FD7-4D75-37E6BC86B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A46A6C49-54FA-2AFF-E423-BD3357425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5D07392B-6557-3A24-76D3-E8B86AF3EA41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B0FB00E-492F-8E3A-1DD8-D149374332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AE4F8DF-34E7-D3E2-B234-60E121A073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EC555330-D30C-9228-B757-5F620F952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1F2EB9B-4CBD-E3DB-2B72-786F7E41BA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A2274E-FD04-7FD6-08EC-204C77DAFC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ADCF69C-F67B-3F53-D4DC-389CFB7C5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51A5CEE-D252-9698-2A96-D767BD19F93A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9F0966A7-18FE-B482-8F67-0C435D3C38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7029000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E30233-D122-106D-4717-0821BFC999C6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9450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B449-C30D-EA75-4F8A-CF741D36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D1B2-D245-2157-8672-6446591A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A576-274F-F608-C136-2ADA5889FE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18EF-6329-F5B8-D164-866B9A6D0F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1F5B25DF-84CA-8FCB-1951-A5E8BB9BB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198EC112-7C5D-20E0-EF2A-5551104A8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22679001-CA48-3B60-DB32-2DEC67E62B83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A7FAAF2-A0F7-231D-A66D-ED01F2D7B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EB325D22-877A-E426-A6BD-2C8ADA121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2E5962EF-CD0E-F926-D2E5-38A2D2C3A2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D112B319-FD01-79B0-9E0D-746F6A97B9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E21066EC-3627-87E8-6E21-499BA8D93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4BB23C14-9B3B-B15A-61EE-868BD03628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E523E63-1A02-F317-F45F-F932649C7E69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EAE6083-502D-984C-BBA7-149EBA4567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FDC77-CB5C-9B16-E784-4FBBDF737A69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145931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991E-F4E2-F3CC-E3FA-72EB61E2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47B5-5A43-6548-F336-467ED82C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14BA-8B9D-0A8D-BB38-3106395BF2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4CB5-2562-79BB-B314-576346AB0C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76B68078-7DEB-DC12-531E-D047EFF38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189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45EE58D1-93BC-4BA0-E5CC-9C21216FA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2776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F3F52864-1660-3763-87CA-5AD634C4CA40}"/>
              </a:ext>
            </a:extLst>
          </p:cNvPr>
          <p:cNvSpPr/>
          <p:nvPr/>
        </p:nvSpPr>
        <p:spPr>
          <a:xfrm>
            <a:off x="4895586" y="2509227"/>
            <a:ext cx="2160000" cy="1080000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Well can we get statistics ?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C683F690-EF3D-7B85-97BA-D4EC1F588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6D510227-3670-D725-E7B1-F1EE741CBC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1A71F3B-3EEE-95AD-2148-A4CD736D6A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B7CA7BA0-377C-20E9-3083-7358FFC441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5A28B93-0183-F984-E3B2-2E03BF237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26944E5-ADE7-FD21-53F6-E81F32A20E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24560B5-E13A-282A-029B-C436EA17E374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6A1E41C8-B396-4422-CE49-40786B3AB0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1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5721-78EF-8E7F-8B46-CE8D13F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DE0E27-0E1F-4B5B-73C3-F2028FE1B45A}"/>
              </a:ext>
            </a:extLst>
          </p:cNvPr>
          <p:cNvSpPr/>
          <p:nvPr/>
        </p:nvSpPr>
        <p:spPr>
          <a:xfrm>
            <a:off x="611442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E0CF2-E90B-068C-BC0C-3F51E679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8A74-E0BC-131A-49EB-00FE4E96F3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06E7-B6A3-7DE2-BA31-5C65F8C41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276CCFE-5797-A5A1-862D-107C8791E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E471810-D85C-30AE-5E57-B54A42B48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4333390F-99CA-3FA0-9503-A438AADCE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FD86D245-19AA-D75A-09F8-BB4BF06EE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4D8C392-8AC6-1559-3791-4A1C6F152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8D39B635-F9FB-F52F-AAE7-95CF942CE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0DA5547-EB90-1AEA-AFE7-0DD25F9AB55F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F8A6E795-E8EC-9EC7-BECE-835886F23D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94758-A0B5-AE15-00F2-E21D82D31A4B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5DA70-21E1-5783-F435-B66FBA4F15B1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</p:spTree>
    <p:extLst>
      <p:ext uri="{BB962C8B-B14F-4D97-AF65-F5344CB8AC3E}">
        <p14:creationId xmlns:p14="http://schemas.microsoft.com/office/powerpoint/2010/main" val="140075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5D78-BE42-9619-8154-5A8BDB19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32B9051-0276-F638-A795-A8A9CFC5BF53}"/>
              </a:ext>
            </a:extLst>
          </p:cNvPr>
          <p:cNvSpPr/>
          <p:nvPr/>
        </p:nvSpPr>
        <p:spPr>
          <a:xfrm>
            <a:off x="8361413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D2E33-6BC1-D710-47F0-C8D2835D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6BE7-7E93-4191-855B-87EEF195F3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4DBF-B91D-0354-2245-EBBDFE8D6E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8475D17-27B7-D21D-E38A-228A1C807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372727B-9416-8538-22EA-935C0DCDA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69B2EE5B-6D87-7A9F-F628-ECC2A0C7A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9C78A2E4-CBDD-7ABF-01A5-8AF379B6E8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0ACA18B-4CA8-EA99-3982-64EF2C5FA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EDB5E4B7-90AB-7CE6-0798-050F5C3C3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BCBC1CB-EBEC-7819-41B1-57DEB92AEC1A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3C340813-D453-B15F-5768-E9F1A9074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203E23-29D9-30F2-FBA6-7790DEB6192F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E1C22C-6819-C479-61B4-66CF5741F27C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CF244-72EE-CB0D-4FF0-BDA9B775F88F}"/>
              </a:ext>
            </a:extLst>
          </p:cNvPr>
          <p:cNvSpPr/>
          <p:nvPr/>
        </p:nvSpPr>
        <p:spPr>
          <a:xfrm>
            <a:off x="431759" y="2434253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78ECA-D22B-2AD8-F4DB-78939B536B78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3F10E-D080-139D-3F79-F192F7D597E7}"/>
              </a:ext>
            </a:extLst>
          </p:cNvPr>
          <p:cNvSpPr/>
          <p:nvPr/>
        </p:nvSpPr>
        <p:spPr>
          <a:xfrm>
            <a:off x="611442" y="8888546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56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1D18-953D-6C3C-419A-3B0C40AD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98FED28-606D-2D8D-8C2E-4F4CFA9F9D5F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1F12D-F0FB-B07E-4D55-9C245369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16246-0FC4-3EF2-EE58-CD1385B003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A592-0238-50B4-BA6A-E39942DA09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78E0D94D-1145-33EE-FCE4-CF911B7AC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AF50812-034F-8B66-F7CE-61BB9A59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8BD0CE8-9D9A-5663-D21B-3DD94AA0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88B10D13-D0A3-6A48-7300-9775D548E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7E9912D-2733-D858-2258-8CB6E975DA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7E8962B-29B8-B7C0-8382-5347A8BFD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5878402D-E19D-4138-9327-6112421EA8CB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F8182FA-C1BF-DB0E-BD11-CB4250B4C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67726-EC10-D783-0B08-CDE40BEB1116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5B026F-BEB4-615D-3685-B68F787B0893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63A3B-DCF0-03B7-7F3A-E75761315CF2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01726-AF1C-3F53-F21D-C62825D61C7B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359AA7-FC24-7369-D13C-480550764986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7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F543-3F86-C779-3FBE-3C01E1B7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7DFE46-4BC5-BA45-3CF2-A27C64602356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3B1E-64A9-919A-45F3-343CFD99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F620-050E-E273-4AAA-74153E86B6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BA49-AE8C-2040-C381-16C13EEFCD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DC03648-9975-692B-2CA6-7B54F5FA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5501E752-7E86-4C9A-A799-EB27F7CDD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BA28801B-57D7-344C-34EE-E139FDA11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40D438D5-2E4F-00B0-CA17-77D110AE1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CB21DF-2D82-8D50-9DC0-CE07D82C3C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93236D1-E52A-6171-42A0-BFBABF499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9231231-30FA-E239-D8DC-59A1AE6CB336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1AE81AC5-C33B-2036-1A86-8936F9E58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47A8DC-9ABC-C837-9840-99BD86B5B883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9B74C-ECBB-DCDF-B2F7-63C6F9E44029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2F4E-9F2B-1063-9BA9-ACEE56D6EA81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785CE-1D9D-7700-5654-7C6A9FC5C7F8}"/>
              </a:ext>
            </a:extLst>
          </p:cNvPr>
          <p:cNvSpPr/>
          <p:nvPr/>
        </p:nvSpPr>
        <p:spPr>
          <a:xfrm>
            <a:off x="642842" y="4708963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54E003-03C3-F787-68FC-969162AB69DC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66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8AFE5-2AE5-46F8-EB76-6CCA484A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F544E-0F8C-2F95-9316-C70D3839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413CDD-9345-8EB5-B2FF-09266B0C047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2604A340-201D-AEAC-5CF4-72A073168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9EEC81-6670-2474-7396-70269293A5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4023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 Analyst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94D750-0833-DCBB-266D-84115DAB165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ABAC11-8449-C186-1E22-D27F5052AEF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4940A6-0557-C758-72FC-2584BCC57D7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67A76F-25C8-581C-B091-8C93700D7482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1C1579-E359-01C6-0B0C-8AFA749E8020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937F2A-BF83-C9A1-BE58-104598C6089F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9FFA352-216D-1641-79E4-B671AFA2D5D8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78DB44-FCC8-86D4-C4C0-352800FA786E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2FE1F2-D5E5-D38A-3CF6-AE7A4B0DDC91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121CF43-262C-4B83-2C76-364CDF89CFF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54022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22BD9CE6-F0C2-CCEA-033C-4E7332F525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CFAD6A9E-5D46-821C-21A1-8FEFE1C41C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9055BC18-4556-80E8-9E96-9460F5CA3E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28A02539-1FA7-F6D9-1F4B-293E7155BF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pic>
        <p:nvPicPr>
          <p:cNvPr id="8" name="Graphic 7" descr="Doctor male outline">
            <a:extLst>
              <a:ext uri="{FF2B5EF4-FFF2-40B4-BE49-F238E27FC236}">
                <a16:creationId xmlns:a16="http://schemas.microsoft.com/office/drawing/2014/main" id="{E61EED9C-0C21-A5DD-F8D1-6DCC01CDB0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663" y="2676495"/>
            <a:ext cx="762266" cy="762266"/>
          </a:xfrm>
          <a:prstGeom prst="rect">
            <a:avLst/>
          </a:prstGeom>
        </p:spPr>
      </p:pic>
      <p:pic>
        <p:nvPicPr>
          <p:cNvPr id="10" name="Graphic 9" descr="Doctor female outline">
            <a:extLst>
              <a:ext uri="{FF2B5EF4-FFF2-40B4-BE49-F238E27FC236}">
                <a16:creationId xmlns:a16="http://schemas.microsoft.com/office/drawing/2014/main" id="{9C01834A-3BA2-4FB4-680A-27AEAA876A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64249" y="2681159"/>
            <a:ext cx="762265" cy="76226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08BC1357-F4F1-13C7-181E-FEECFEA945E9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3476491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71A5-6618-7A76-F1AD-625E2DFA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3C844-F916-7D31-E164-6C4A1F2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6F03-2BB7-0AF0-AF49-B41C2587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9D64B-9262-CBDA-5FE1-76CA984CF45E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068A90F-02B5-D248-C5A4-B6191847874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3168385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2F2E-3C4C-3671-4F74-C9EF7AB2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CF02C-3ED4-63CB-4BDF-DA5C3746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252D-3489-82F6-D600-8BCFAA26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6FE77-9607-62DD-7FF9-E6280812A172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pic>
        <p:nvPicPr>
          <p:cNvPr id="22" name="Graphic 21" descr="Dice with solid fill">
            <a:extLst>
              <a:ext uri="{FF2B5EF4-FFF2-40B4-BE49-F238E27FC236}">
                <a16:creationId xmlns:a16="http://schemas.microsoft.com/office/drawing/2014/main" id="{96173601-E602-380E-DD05-E4980931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7672" y="2565514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6EBB5B-EA02-6867-4B21-5162041FD03E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1C56D-12DE-75B8-DC83-BE9DFC22929A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pic>
        <p:nvPicPr>
          <p:cNvPr id="6" name="Graphic 5" descr="Dice with solid fill">
            <a:extLst>
              <a:ext uri="{FF2B5EF4-FFF2-40B4-BE49-F238E27FC236}">
                <a16:creationId xmlns:a16="http://schemas.microsoft.com/office/drawing/2014/main" id="{3C888514-68DE-7DC4-4373-6F54F044E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215" y="2549602"/>
            <a:ext cx="914400" cy="914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2AD21DE-6E63-65A3-9C68-29091016195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1132839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2E82-7F87-FDD7-4366-C0482848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DD09F-30C5-4467-EC5F-1D2A608C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C413-5A30-0550-245E-7D91E78A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0FB26-8DB2-ABDA-ADDB-ABB656C2A329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98995-4070-FD2C-36B7-C07CC02CA5F4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06790-4C19-875C-25E1-627A7CF7094F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6AE524-5339-87C4-360B-71F98DFC140A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A5FABC04-EBAB-01DC-7D19-93D08EFE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6073CCB0-DB14-4FA2-638A-8885074F6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1AE524D-FA72-2C5D-2522-E978B4E69C0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267193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F922-7CC4-F11B-A3F2-31BCE52B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0E30B-BC4B-DFAE-DE4F-924546F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B94B1-12A3-DA25-8AB9-D7CE7612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74AD425-89B5-879E-6BD5-F2EB42D3013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EB439-E16B-7D4E-389F-310C665A7F4B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CCB95-957B-088C-D925-2B99825976FC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56BF-8E67-83F7-052E-A599CD8BA0CB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86B1E8-092B-18AD-C6FC-ABCEC59B7DCF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1194F749-3529-F90A-D820-91CED2956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0AC45DBC-36EE-E0D6-3709-421599613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27B2A7-E4C7-A9FE-644F-B9F16B75F12E}"/>
              </a:ext>
            </a:extLst>
          </p:cNvPr>
          <p:cNvCxnSpPr>
            <a:cxnSpLocks/>
          </p:cNvCxnSpPr>
          <p:nvPr/>
        </p:nvCxnSpPr>
        <p:spPr>
          <a:xfrm flipH="1">
            <a:off x="4656000" y="2708653"/>
            <a:ext cx="1440000" cy="65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052035-95FF-9A4A-77CA-B342735F1ADB}"/>
              </a:ext>
            </a:extLst>
          </p:cNvPr>
          <p:cNvCxnSpPr>
            <a:cxnSpLocks/>
          </p:cNvCxnSpPr>
          <p:nvPr/>
        </p:nvCxnSpPr>
        <p:spPr>
          <a:xfrm>
            <a:off x="6096000" y="2714713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91F2F1-24E2-AC56-AA61-B77766B95B63}"/>
              </a:ext>
            </a:extLst>
          </p:cNvPr>
          <p:cNvCxnSpPr>
            <a:cxnSpLocks/>
          </p:cNvCxnSpPr>
          <p:nvPr/>
        </p:nvCxnSpPr>
        <p:spPr>
          <a:xfrm>
            <a:off x="6096000" y="2710733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AEED0-FB95-1713-30F4-CF49999D68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02510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1023D5-4412-FE36-0E45-11E474E565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86279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A889B0-468D-1562-2F7B-76B15F9B0F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56310" y="3707122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BEFF9-14F5-1AF8-CA4A-29EFF8FCEF60}"/>
              </a:ext>
            </a:extLst>
          </p:cNvPr>
          <p:cNvSpPr/>
          <p:nvPr/>
        </p:nvSpPr>
        <p:spPr>
          <a:xfrm>
            <a:off x="3579638" y="4291635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34F1BF-9DE4-E2E4-2FD3-8D76EA869B6A}"/>
              </a:ext>
            </a:extLst>
          </p:cNvPr>
          <p:cNvSpPr/>
          <p:nvPr/>
        </p:nvSpPr>
        <p:spPr>
          <a:xfrm>
            <a:off x="4399223" y="4301837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A48D2-6399-99FF-5F6A-5E512B47F1F7}"/>
              </a:ext>
            </a:extLst>
          </p:cNvPr>
          <p:cNvSpPr/>
          <p:nvPr/>
        </p:nvSpPr>
        <p:spPr>
          <a:xfrm>
            <a:off x="5493455" y="4301836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3B1E3B-3866-76C8-493C-9F31F01AEC53}"/>
              </a:ext>
            </a:extLst>
          </p:cNvPr>
          <p:cNvSpPr/>
          <p:nvPr/>
        </p:nvSpPr>
        <p:spPr>
          <a:xfrm>
            <a:off x="6224280" y="4301835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A63FA8-BC38-EF22-088D-C97408152B4E}"/>
              </a:ext>
            </a:extLst>
          </p:cNvPr>
          <p:cNvSpPr/>
          <p:nvPr/>
        </p:nvSpPr>
        <p:spPr>
          <a:xfrm>
            <a:off x="7408781" y="4291634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F75B7-8830-9B6E-B2AD-81CF74F67782}"/>
              </a:ext>
            </a:extLst>
          </p:cNvPr>
          <p:cNvSpPr/>
          <p:nvPr/>
        </p:nvSpPr>
        <p:spPr>
          <a:xfrm>
            <a:off x="8164796" y="429163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9266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7071-D1E3-7C18-AC7E-BE917B3C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9F1AB-2AF2-C324-2F68-B1966E5C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3410-CF1E-C5E3-7084-AB739399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82D82-E168-9938-C66A-8CE5DFEB7F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82BD323F-EF17-B77C-CA0A-C584810AC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90D58F-6117-0B4F-D079-4651782743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0104000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 Analyst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8D989-02EF-82C7-5164-B1EF1750ADD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5609724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916019-1803-466C-148A-7F28C31CDD3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5627676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B12057-9025-104E-1969-5ECC7F2C283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5627676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C9099F-3DF7-E9A6-A367-6007BEB4B626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-4169724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C8825C-8B06-527F-6F3D-53F3362413E6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-4187676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ED8005-26AA-D13E-4C92-E502BC9AF376}"/>
              </a:ext>
            </a:extLst>
          </p:cNvPr>
          <p:cNvCxnSpPr>
            <a:cxnSpLocks/>
          </p:cNvCxnSpPr>
          <p:nvPr/>
        </p:nvCxnSpPr>
        <p:spPr>
          <a:xfrm flipH="1">
            <a:off x="-4169724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0EF3E1-D4F0-F91B-7D9A-C83CFD52306B}"/>
              </a:ext>
            </a:extLst>
          </p:cNvPr>
          <p:cNvCxnSpPr>
            <a:cxnSpLocks/>
          </p:cNvCxnSpPr>
          <p:nvPr/>
        </p:nvCxnSpPr>
        <p:spPr>
          <a:xfrm flipV="1">
            <a:off x="-8310600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7BC968-D8A0-84AB-84D9-C0CC214B639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-8328552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ED8151-6AD8-1BD9-3BD5-F82E1EADE1D2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-8328552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1C48B1-A78E-6C42-7280-90BBFBBE94B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9744001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889FA79B-BD83-2DBD-0B01-4FE059BEC4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126756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0C8AB32F-6DCE-807C-C0EA-79BFB6A9AE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562184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D7A0E8E3-2A3E-1B12-7400-657D060C2E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357054" y="4520328"/>
            <a:ext cx="609378" cy="609378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974CE90-CEBB-B67D-5DA4-032479D0C6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pic>
        <p:nvPicPr>
          <p:cNvPr id="8" name="Graphic 7" descr="Doctor male outline">
            <a:extLst>
              <a:ext uri="{FF2B5EF4-FFF2-40B4-BE49-F238E27FC236}">
                <a16:creationId xmlns:a16="http://schemas.microsoft.com/office/drawing/2014/main" id="{5DC7CCA1-C71F-F021-ABA5-5D782FB9B2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9893360" y="2676495"/>
            <a:ext cx="762266" cy="762266"/>
          </a:xfrm>
          <a:prstGeom prst="rect">
            <a:avLst/>
          </a:prstGeom>
        </p:spPr>
      </p:pic>
      <p:pic>
        <p:nvPicPr>
          <p:cNvPr id="10" name="Graphic 9" descr="Doctor female outline">
            <a:extLst>
              <a:ext uri="{FF2B5EF4-FFF2-40B4-BE49-F238E27FC236}">
                <a16:creationId xmlns:a16="http://schemas.microsoft.com/office/drawing/2014/main" id="{FAC4D814-2DC2-D0F5-E3C2-F4B75D89B5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8933774" y="2681159"/>
            <a:ext cx="762265" cy="76226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3B1032-E54B-890A-CEF9-C7537D407A0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18B77A-3998-6609-F6F7-E72FF7F6C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88029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02AA7B-22F0-D148-FFA6-B45E805BEBF4}"/>
              </a:ext>
            </a:extLst>
          </p:cNvPr>
          <p:cNvSpPr txBox="1"/>
          <p:nvPr/>
        </p:nvSpPr>
        <p:spPr>
          <a:xfrm rot="5400000">
            <a:off x="4876145" y="4426116"/>
            <a:ext cx="433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99322-04DE-9CE1-DF5D-C0BD2A530383}"/>
              </a:ext>
            </a:extLst>
          </p:cNvPr>
          <p:cNvSpPr txBox="1"/>
          <p:nvPr/>
        </p:nvSpPr>
        <p:spPr>
          <a:xfrm>
            <a:off x="1570096" y="223428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Hospital_db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38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5495-1246-A156-FECA-D01BF0DD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F229A-D3D1-5FD7-4E22-4A021F58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1B9E2-84E1-2CA9-08FB-CE48600D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A5AB94-7324-A478-C42B-B89580B6016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6424DCC7-BCA3-EDC5-E26B-D60EA03F8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0377F617-03C5-D003-6063-9C2E9C61F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BE5D7A9-ABA3-DE01-50D1-7275681C364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75EA94-52DB-12FE-31B4-AA8CC269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18061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549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56F7-4032-BCF2-3E25-754C049F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22558-2842-7300-4DEE-D681843A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2EAE-38C7-D3A4-4662-52D49E83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4F8244-3E13-4962-3DB0-4C79C086D9D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313F9A9A-31AD-1104-1DA0-08ED71F67F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B0C3C2B-641E-0545-83F1-535245D74F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1090C0C-19F6-8E01-AB91-D2DD6F87EF3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98B0E-1363-79D4-02F6-5603FA630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29187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02CDF4-32A4-7370-E7E4-3CC91BB08C5D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C8522D-A68E-78CB-908A-97EFBAC21E2C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9C7DE8-BB23-0095-6869-76EB344E5659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94506A-7D3A-4D09-6181-8EB6B6127031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9DF6280D-62FE-6B1A-F6B0-AF1A2FEB2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C1BFAEFB-0CCB-834F-37C9-89796B6314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747AE197-1D9F-38DE-43BA-A224FE0747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7CDCDE1-8751-D53F-5E39-B2F58FB1CC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9D884E-FF27-5630-DBA8-608D184FA87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A160CC-516E-8866-A915-BE7CB2554F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8110789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228A7F-AC5A-FFDC-F559-ADE36A6F3DF2}"/>
              </a:ext>
            </a:extLst>
          </p:cNvPr>
          <p:cNvCxnSpPr>
            <a:cxnSpLocks/>
          </p:cNvCxnSpPr>
          <p:nvPr/>
        </p:nvCxnSpPr>
        <p:spPr>
          <a:xfrm flipH="1">
            <a:off x="3333120" y="3864951"/>
            <a:ext cx="1451695" cy="617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99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4AAF-8AAF-E13E-562B-12D5CCCD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B2B59-7F17-2C44-43EF-07ADCBFF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B374-15B2-AD5B-6BF7-7DB2080E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422AF6-428C-A0B8-928D-106B2B2682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70C28BA3-07B8-ED54-8F41-CCD4E6A9C2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EA2AD3E2-12F2-83E5-D2B2-F8BA14DBE6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DDB4525-BD10-48C9-B6A1-2F476F4EC2E1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480A4-E4BB-AADC-E4E0-B9E4C5ADE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51763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DB8666A-323F-1BFB-BDCD-E9F9B78C8055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D6FE4D-81B3-2628-7DE4-307682DC58A8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1E4B7-E6F0-E106-967B-46506E224A92}"/>
              </a:ext>
            </a:extLst>
          </p:cNvPr>
          <p:cNvCxnSpPr>
            <a:cxnSpLocks/>
          </p:cNvCxnSpPr>
          <p:nvPr/>
        </p:nvCxnSpPr>
        <p:spPr>
          <a:xfrm flipH="1">
            <a:off x="3368400" y="3864951"/>
            <a:ext cx="1440000" cy="65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4B98B2-0F48-470C-ADEB-736DAC4707AC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445A7A-2562-DAD9-5580-B2EEE07A1CDE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E92FF1DA-7307-D77D-AA25-5D4E1CDB5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FB14E965-99F0-8920-D46C-ACECF7D71A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0E3558C3-49C8-45C9-C57A-EE3C33BA3F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97D402-ACDE-2038-BA5E-7164F97B88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0F957B-5C35-5876-53F7-8D2A47EB6A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76D63D-87B8-B766-6671-3E5431C52F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5439815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50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CA85-E4EB-9CE3-E832-D7B87694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7BAF-A474-654B-84CE-ECA1EE3C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FESCA – SECRECY IN RUST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FA489-78AC-616F-2372-FFB67230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BF71-582A-B951-E1F6-697DE805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4EA2B9-4889-4F2C-C51A-4981ADC820C8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3F65B93-D762-F49C-3C6E-BABB35C612D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Owner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pic>
          <p:nvPicPr>
            <p:cNvPr id="9" name="Graphic 8" descr="Factory with solid fill">
              <a:extLst>
                <a:ext uri="{FF2B5EF4-FFF2-40B4-BE49-F238E27FC236}">
                  <a16:creationId xmlns:a16="http://schemas.microsoft.com/office/drawing/2014/main" id="{126CEDF9-0E28-8ED4-0740-E49760651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95048" y="2780504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Chocolate with solid fill">
              <a:extLst>
                <a:ext uri="{FF2B5EF4-FFF2-40B4-BE49-F238E27FC236}">
                  <a16:creationId xmlns:a16="http://schemas.microsoft.com/office/drawing/2014/main" id="{8695D750-CD80-7020-E386-E919883D6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59488" y="2620414"/>
              <a:ext cx="499920" cy="499920"/>
            </a:xfrm>
            <a:prstGeom prst="rect">
              <a:avLst/>
            </a:prstGeom>
          </p:spPr>
        </p:pic>
        <p:pic>
          <p:nvPicPr>
            <p:cNvPr id="13" name="Graphic 12" descr="Candy with solid fill">
              <a:extLst>
                <a:ext uri="{FF2B5EF4-FFF2-40B4-BE49-F238E27FC236}">
                  <a16:creationId xmlns:a16="http://schemas.microsoft.com/office/drawing/2014/main" id="{B3CD20D8-17FE-B551-180E-D3375DB5F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20220" y="3001090"/>
              <a:ext cx="459576" cy="459576"/>
            </a:xfrm>
            <a:prstGeom prst="rect">
              <a:avLst/>
            </a:prstGeom>
          </p:spPr>
        </p:pic>
        <p:pic>
          <p:nvPicPr>
            <p:cNvPr id="15" name="Graphic 14" descr="Badge 1 outline">
              <a:extLst>
                <a:ext uri="{FF2B5EF4-FFF2-40B4-BE49-F238E27FC236}">
                  <a16:creationId xmlns:a16="http://schemas.microsoft.com/office/drawing/2014/main" id="{3C2F45BE-4CE8-2350-D809-55BE9A7F3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940439" y="3626170"/>
              <a:ext cx="718969" cy="718969"/>
            </a:xfrm>
            <a:prstGeom prst="rect">
              <a:avLst/>
            </a:prstGeom>
          </p:spPr>
        </p:pic>
      </p:grp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A000D58E-A62A-08C9-97A4-52B320C52D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BA415A8-476B-8415-2946-E0D9EA6F143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C8ACB0B-C8B2-C926-36FA-E338AA9FBC1F}"/>
                </a:ext>
              </a:extLst>
            </p:cNvPr>
            <p:cNvGrpSpPr/>
            <p:nvPr/>
          </p:nvGrpSpPr>
          <p:grpSpPr>
            <a:xfrm>
              <a:off x="894023" y="2329946"/>
              <a:ext cx="2160000" cy="3240000"/>
              <a:chOff x="9336000" y="2169000"/>
              <a:chExt cx="2160000" cy="324000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289464C-9788-E29A-E75E-E0A88E12FF13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9336000" y="2169000"/>
                <a:ext cx="2160000" cy="3240000"/>
              </a:xfrm>
              <a:prstGeom prst="round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Data Analyst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1" name="Graphic 20" descr="Factory with solid fill">
                <a:extLst>
                  <a:ext uri="{FF2B5EF4-FFF2-40B4-BE49-F238E27FC236}">
                    <a16:creationId xmlns:a16="http://schemas.microsoft.com/office/drawing/2014/main" id="{32BC4D00-926E-8EA3-965E-82872661E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650520" y="261955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aphic 21" descr="Chocolate with solid fill">
                <a:extLst>
                  <a:ext uri="{FF2B5EF4-FFF2-40B4-BE49-F238E27FC236}">
                    <a16:creationId xmlns:a16="http://schemas.microsoft.com/office/drawing/2014/main" id="{F65328B2-1C5B-1B43-A12A-321542FA5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314960" y="2459468"/>
                <a:ext cx="499920" cy="499920"/>
              </a:xfrm>
              <a:prstGeom prst="rect">
                <a:avLst/>
              </a:prstGeom>
            </p:spPr>
          </p:pic>
          <p:pic>
            <p:nvPicPr>
              <p:cNvPr id="23" name="Graphic 22" descr="Candy with solid fill">
                <a:extLst>
                  <a:ext uri="{FF2B5EF4-FFF2-40B4-BE49-F238E27FC236}">
                    <a16:creationId xmlns:a16="http://schemas.microsoft.com/office/drawing/2014/main" id="{FADBA286-9566-360D-0084-12D34EC6B7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675692" y="2840144"/>
                <a:ext cx="459576" cy="459576"/>
              </a:xfrm>
              <a:prstGeom prst="rect">
                <a:avLst/>
              </a:prstGeom>
            </p:spPr>
          </p:pic>
        </p:grpSp>
        <p:pic>
          <p:nvPicPr>
            <p:cNvPr id="27" name="Graphic 26" descr="Badge outline">
              <a:extLst>
                <a:ext uri="{FF2B5EF4-FFF2-40B4-BE49-F238E27FC236}">
                  <a16:creationId xmlns:a16="http://schemas.microsoft.com/office/drawing/2014/main" id="{ABFC9D6C-FE0D-1FAD-8AC0-BEF449937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00822" y="3570892"/>
              <a:ext cx="746401" cy="746401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F3BB-630E-85F8-6FC4-2B124BCCFC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EF08C2-2BC6-49D2-FDED-4FD5414951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8E407A-0D4E-91CB-2376-9D25FD8E41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A61C9-544A-1264-A375-22AA8446796D}"/>
              </a:ext>
            </a:extLst>
          </p:cNvPr>
          <p:cNvSpPr/>
          <p:nvPr/>
        </p:nvSpPr>
        <p:spPr>
          <a:xfrm>
            <a:off x="4656000" y="2114752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00D1B4-D508-2BB4-8157-6AC180358761}"/>
              </a:ext>
            </a:extLst>
          </p:cNvPr>
          <p:cNvSpPr txBox="1"/>
          <p:nvPr/>
        </p:nvSpPr>
        <p:spPr>
          <a:xfrm>
            <a:off x="993033" y="4426378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pic>
        <p:nvPicPr>
          <p:cNvPr id="8" name="Graphic 7" descr="Arrow circle outline">
            <a:extLst>
              <a:ext uri="{FF2B5EF4-FFF2-40B4-BE49-F238E27FC236}">
                <a16:creationId xmlns:a16="http://schemas.microsoft.com/office/drawing/2014/main" id="{125AFBE2-8469-3885-AA14-75764AC59AD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1099" y="2348857"/>
            <a:ext cx="914400" cy="914400"/>
          </a:xfrm>
          <a:prstGeom prst="rect">
            <a:avLst/>
          </a:prstGeom>
        </p:spPr>
      </p:pic>
      <p:pic>
        <p:nvPicPr>
          <p:cNvPr id="10" name="Graphic 9" descr="Arrow circle outline">
            <a:extLst>
              <a:ext uri="{FF2B5EF4-FFF2-40B4-BE49-F238E27FC236}">
                <a16:creationId xmlns:a16="http://schemas.microsoft.com/office/drawing/2014/main" id="{AB494710-0F34-0406-EAEF-C872A0A55B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1099" y="3580162"/>
            <a:ext cx="914400" cy="914400"/>
          </a:xfrm>
          <a:prstGeom prst="rect">
            <a:avLst/>
          </a:prstGeom>
        </p:spPr>
      </p:pic>
      <p:pic>
        <p:nvPicPr>
          <p:cNvPr id="12" name="Graphic 11" descr="Arrow circle outline">
            <a:extLst>
              <a:ext uri="{FF2B5EF4-FFF2-40B4-BE49-F238E27FC236}">
                <a16:creationId xmlns:a16="http://schemas.microsoft.com/office/drawing/2014/main" id="{8952211A-EEF7-D3B0-C9A4-C7371B012FA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1099" y="47926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3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89CC-0DE8-2F26-1C8D-AA099CDD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0612-A1F6-3ED9-AB5B-73D1514F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FESCA – SECRECY IN RUST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69704-F7ED-71D2-E680-C01EC879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E4CD3-E813-2F5A-AC11-82921685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CF4829-0ACC-E3B8-C860-3F4D248926FE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B0719B6-DCA2-FBC4-6FE1-DE163BEB62B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Owner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pic>
          <p:nvPicPr>
            <p:cNvPr id="9" name="Graphic 8" descr="Factory with solid fill">
              <a:extLst>
                <a:ext uri="{FF2B5EF4-FFF2-40B4-BE49-F238E27FC236}">
                  <a16:creationId xmlns:a16="http://schemas.microsoft.com/office/drawing/2014/main" id="{E19F24DE-630E-FA82-58C0-B8B80789F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95048" y="2780504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Chocolate with solid fill">
              <a:extLst>
                <a:ext uri="{FF2B5EF4-FFF2-40B4-BE49-F238E27FC236}">
                  <a16:creationId xmlns:a16="http://schemas.microsoft.com/office/drawing/2014/main" id="{B8F95049-8954-B4F5-624B-D3F60A25B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59488" y="2620414"/>
              <a:ext cx="499920" cy="499920"/>
            </a:xfrm>
            <a:prstGeom prst="rect">
              <a:avLst/>
            </a:prstGeom>
          </p:spPr>
        </p:pic>
        <p:pic>
          <p:nvPicPr>
            <p:cNvPr id="13" name="Graphic 12" descr="Candy with solid fill">
              <a:extLst>
                <a:ext uri="{FF2B5EF4-FFF2-40B4-BE49-F238E27FC236}">
                  <a16:creationId xmlns:a16="http://schemas.microsoft.com/office/drawing/2014/main" id="{1370D934-4A67-61CB-5A18-55BF757DA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20220" y="3001090"/>
              <a:ext cx="459576" cy="459576"/>
            </a:xfrm>
            <a:prstGeom prst="rect">
              <a:avLst/>
            </a:prstGeom>
          </p:spPr>
        </p:pic>
        <p:pic>
          <p:nvPicPr>
            <p:cNvPr id="15" name="Graphic 14" descr="Badge 1 outline">
              <a:extLst>
                <a:ext uri="{FF2B5EF4-FFF2-40B4-BE49-F238E27FC236}">
                  <a16:creationId xmlns:a16="http://schemas.microsoft.com/office/drawing/2014/main" id="{7922EA4E-FA78-8743-C4DC-7A6EAD950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940439" y="3626170"/>
              <a:ext cx="718969" cy="718969"/>
            </a:xfrm>
            <a:prstGeom prst="rect">
              <a:avLst/>
            </a:prstGeom>
          </p:spPr>
        </p:pic>
      </p:grp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01DBBDBA-DF8D-FAB6-9E36-8A8B005A9F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DBE79200-5DAE-5F99-C795-CFCC47C80A89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563C42-AAF2-E718-F744-CEF3568FE2B2}"/>
                </a:ext>
              </a:extLst>
            </p:cNvPr>
            <p:cNvGrpSpPr/>
            <p:nvPr/>
          </p:nvGrpSpPr>
          <p:grpSpPr>
            <a:xfrm>
              <a:off x="894023" y="2329946"/>
              <a:ext cx="2160000" cy="3240000"/>
              <a:chOff x="9336000" y="2169000"/>
              <a:chExt cx="2160000" cy="324000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D2C42C6-4CBA-7952-1045-1269777D1D08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9336000" y="2169000"/>
                <a:ext cx="2160000" cy="3240000"/>
              </a:xfrm>
              <a:prstGeom prst="round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Data Analyst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1" name="Graphic 20" descr="Factory with solid fill">
                <a:extLst>
                  <a:ext uri="{FF2B5EF4-FFF2-40B4-BE49-F238E27FC236}">
                    <a16:creationId xmlns:a16="http://schemas.microsoft.com/office/drawing/2014/main" id="{56CF63E2-8E9A-055B-C9B0-A3A014C00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650520" y="261955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aphic 21" descr="Chocolate with solid fill">
                <a:extLst>
                  <a:ext uri="{FF2B5EF4-FFF2-40B4-BE49-F238E27FC236}">
                    <a16:creationId xmlns:a16="http://schemas.microsoft.com/office/drawing/2014/main" id="{11A8C1D2-BABF-C3D6-BC4A-E11D38173E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314960" y="2459468"/>
                <a:ext cx="499920" cy="499920"/>
              </a:xfrm>
              <a:prstGeom prst="rect">
                <a:avLst/>
              </a:prstGeom>
            </p:spPr>
          </p:pic>
          <p:pic>
            <p:nvPicPr>
              <p:cNvPr id="23" name="Graphic 22" descr="Candy with solid fill">
                <a:extLst>
                  <a:ext uri="{FF2B5EF4-FFF2-40B4-BE49-F238E27FC236}">
                    <a16:creationId xmlns:a16="http://schemas.microsoft.com/office/drawing/2014/main" id="{5440F6A9-2AE8-DBEE-1D55-1C6DC7F78A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675692" y="2840144"/>
                <a:ext cx="459576" cy="459576"/>
              </a:xfrm>
              <a:prstGeom prst="rect">
                <a:avLst/>
              </a:prstGeom>
            </p:spPr>
          </p:pic>
        </p:grpSp>
        <p:pic>
          <p:nvPicPr>
            <p:cNvPr id="27" name="Graphic 26" descr="Badge outline">
              <a:extLst>
                <a:ext uri="{FF2B5EF4-FFF2-40B4-BE49-F238E27FC236}">
                  <a16:creationId xmlns:a16="http://schemas.microsoft.com/office/drawing/2014/main" id="{E2EFB11F-A3E9-AD3F-3B14-1D97F4E2D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00822" y="3570892"/>
              <a:ext cx="746401" cy="746401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E33CAEB-129F-D9A9-7488-A1FA4F7BFAE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0D2C5-CB6C-D4D5-51EA-FCA7ADDFCA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45722-99E9-0949-3F89-FD11E92704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68B71-4DBD-9298-65A5-15E0F14EDBE9}"/>
              </a:ext>
            </a:extLst>
          </p:cNvPr>
          <p:cNvSpPr/>
          <p:nvPr/>
        </p:nvSpPr>
        <p:spPr>
          <a:xfrm>
            <a:off x="7536000" y="2114752"/>
            <a:ext cx="396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278C74-893B-9AE8-9B96-019479BFC664}"/>
              </a:ext>
            </a:extLst>
          </p:cNvPr>
          <p:cNvSpPr txBox="1"/>
          <p:nvPr/>
        </p:nvSpPr>
        <p:spPr>
          <a:xfrm>
            <a:off x="993033" y="4426378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4BFF6-FA41-272C-FCED-7417D196D42F}"/>
              </a:ext>
            </a:extLst>
          </p:cNvPr>
          <p:cNvCxnSpPr>
            <a:cxnSpLocks/>
            <a:stCxn id="28" idx="1"/>
            <a:endCxn id="49" idx="3"/>
          </p:cNvCxnSpPr>
          <p:nvPr/>
        </p:nvCxnSpPr>
        <p:spPr>
          <a:xfrm flipH="1">
            <a:off x="2955011" y="2780504"/>
            <a:ext cx="2433288" cy="196904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C7E5B0-C9C2-2614-4C30-A0F62C193FE3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flipH="1">
            <a:off x="2955011" y="4037362"/>
            <a:ext cx="2415336" cy="71218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D2DAB0-A84B-40CF-66BD-C50B52B300B9}"/>
              </a:ext>
            </a:extLst>
          </p:cNvPr>
          <p:cNvCxnSpPr>
            <a:cxnSpLocks/>
            <a:stCxn id="30" idx="1"/>
            <a:endCxn id="49" idx="3"/>
          </p:cNvCxnSpPr>
          <p:nvPr/>
        </p:nvCxnSpPr>
        <p:spPr>
          <a:xfrm flipH="1" flipV="1">
            <a:off x="2955011" y="4749544"/>
            <a:ext cx="2415336" cy="544676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4E0861-DB8C-621F-9FF8-09D4BF049FFC}"/>
              </a:ext>
            </a:extLst>
          </p:cNvPr>
          <p:cNvSpPr txBox="1"/>
          <p:nvPr/>
        </p:nvSpPr>
        <p:spPr>
          <a:xfrm>
            <a:off x="3955719" y="3120334"/>
            <a:ext cx="1159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#1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091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E747E-1DF8-18C8-557A-61E6D2D7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03DE-8314-F04A-CC57-C91136E0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FESCA – SECRECY IN RUST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1513E-1D56-7343-7F18-D60EAF25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26B6C-5D5E-DA81-5BD4-6D8D341E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F21C60-10FB-2E7E-1A5E-A5211DF741F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96000" y="3525155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X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305E6-A213-68E3-CFE9-B628C0407A20}"/>
              </a:ext>
            </a:extLst>
          </p:cNvPr>
          <p:cNvSpPr txBox="1"/>
          <p:nvPr/>
        </p:nvSpPr>
        <p:spPr>
          <a:xfrm>
            <a:off x="5594970" y="2243928"/>
            <a:ext cx="25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Execute circuit on a binary share of the table</a:t>
            </a:r>
            <a:endParaRPr lang="de-DE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70771-F854-E3BB-AB52-4B7C8D81F229}"/>
              </a:ext>
            </a:extLst>
          </p:cNvPr>
          <p:cNvSpPr txBox="1"/>
          <p:nvPr/>
        </p:nvSpPr>
        <p:spPr>
          <a:xfrm>
            <a:off x="3216000" y="4350709"/>
            <a:ext cx="2519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Translate SQL Query into binary circuit</a:t>
            </a:r>
            <a:endParaRPr lang="de-DE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57270-2E9C-4E11-4F06-A226C6263D07}"/>
              </a:ext>
            </a:extLst>
          </p:cNvPr>
          <p:cNvSpPr txBox="1"/>
          <p:nvPr/>
        </p:nvSpPr>
        <p:spPr>
          <a:xfrm>
            <a:off x="8616000" y="3789547"/>
            <a:ext cx="180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Retrieve intermediate result and send back to Data Analyst</a:t>
            </a:r>
            <a:endParaRPr lang="de-DE" sz="2000" b="1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1FF8D06-D112-642E-AC3B-3B6A2E8F7C0C}"/>
              </a:ext>
            </a:extLst>
          </p:cNvPr>
          <p:cNvSpPr/>
          <p:nvPr/>
        </p:nvSpPr>
        <p:spPr>
          <a:xfrm>
            <a:off x="2232000" y="1989000"/>
            <a:ext cx="624000" cy="4319999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7753850-99D1-4E39-B478-CA0628BDC2D1}"/>
              </a:ext>
            </a:extLst>
          </p:cNvPr>
          <p:cNvSpPr/>
          <p:nvPr/>
        </p:nvSpPr>
        <p:spPr>
          <a:xfrm rot="18815751">
            <a:off x="4871626" y="33852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CA2001C-527F-5488-92EA-F316BC8FA44E}"/>
              </a:ext>
            </a:extLst>
          </p:cNvPr>
          <p:cNvSpPr/>
          <p:nvPr/>
        </p:nvSpPr>
        <p:spPr>
          <a:xfrm rot="1634647">
            <a:off x="7952657" y="314475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08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F784-8941-92DB-E96A-5987A000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E83B-2694-FC78-8A4C-FF67FDB7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FESCA – SECRECY IN RUST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742FF-049A-F847-8709-CE76C6B3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286B1-7AC9-8F9A-6039-86511E92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22</a:t>
            </a:fld>
            <a:endParaRPr lang="de-DE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9BCAD7-22FD-AE4C-31F6-4ACB50D8346C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51AA4D6-80E6-5E7F-2B73-0549C6DA13D4}"/>
                </a:ext>
              </a:extLst>
            </p:cNvPr>
            <p:cNvGrpSpPr/>
            <p:nvPr/>
          </p:nvGrpSpPr>
          <p:grpSpPr>
            <a:xfrm>
              <a:off x="894023" y="2329946"/>
              <a:ext cx="2160000" cy="3240000"/>
              <a:chOff x="9336000" y="2169000"/>
              <a:chExt cx="2160000" cy="324000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3BFEA32-A71A-67B7-EB4C-260CB582E2D3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9336000" y="2169000"/>
                <a:ext cx="2160000" cy="3240000"/>
              </a:xfrm>
              <a:prstGeom prst="round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Data Analyst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1" name="Graphic 20" descr="Factory with solid fill">
                <a:extLst>
                  <a:ext uri="{FF2B5EF4-FFF2-40B4-BE49-F238E27FC236}">
                    <a16:creationId xmlns:a16="http://schemas.microsoft.com/office/drawing/2014/main" id="{EBB90547-38F1-84F2-7E6B-FC47DD93C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650520" y="261955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aphic 21" descr="Chocolate with solid fill">
                <a:extLst>
                  <a:ext uri="{FF2B5EF4-FFF2-40B4-BE49-F238E27FC236}">
                    <a16:creationId xmlns:a16="http://schemas.microsoft.com/office/drawing/2014/main" id="{B9D05DD8-8CF5-1C1D-41E5-52D07FD134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314960" y="2459468"/>
                <a:ext cx="499920" cy="499920"/>
              </a:xfrm>
              <a:prstGeom prst="rect">
                <a:avLst/>
              </a:prstGeom>
            </p:spPr>
          </p:pic>
          <p:pic>
            <p:nvPicPr>
              <p:cNvPr id="23" name="Graphic 22" descr="Candy with solid fill">
                <a:extLst>
                  <a:ext uri="{FF2B5EF4-FFF2-40B4-BE49-F238E27FC236}">
                    <a16:creationId xmlns:a16="http://schemas.microsoft.com/office/drawing/2014/main" id="{6A83ADC1-ACE4-AAFA-0968-B142F03C4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675692" y="2840144"/>
                <a:ext cx="459576" cy="459576"/>
              </a:xfrm>
              <a:prstGeom prst="rect">
                <a:avLst/>
              </a:prstGeom>
            </p:spPr>
          </p:pic>
        </p:grpSp>
        <p:pic>
          <p:nvPicPr>
            <p:cNvPr id="27" name="Graphic 26" descr="Badge outline">
              <a:extLst>
                <a:ext uri="{FF2B5EF4-FFF2-40B4-BE49-F238E27FC236}">
                  <a16:creationId xmlns:a16="http://schemas.microsoft.com/office/drawing/2014/main" id="{946FD72F-F6AE-B492-5138-AC376C7C9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00822" y="3570892"/>
              <a:ext cx="746401" cy="746401"/>
            </a:xfrm>
            <a:prstGeom prst="rect">
              <a:avLst/>
            </a:prstGeom>
          </p:spPr>
        </p:pic>
      </p:grp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E2B6592-333C-00CD-D278-88B33301FB6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446302" y="2301911"/>
            <a:ext cx="8169817" cy="37710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combining</a:t>
            </a:r>
            <a:r>
              <a:rPr lang="de-DE" sz="2400" dirty="0"/>
              <a:t> </a:t>
            </a:r>
            <a:r>
              <a:rPr lang="de-DE" sz="2400" dirty="0" err="1"/>
              <a:t>computation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</a:t>
            </a:r>
          </a:p>
        </p:txBody>
      </p: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8091D025-E531-9794-6C47-1DBD086ED7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73519" y="3563018"/>
            <a:ext cx="914400" cy="914400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77C29371-F005-0A3A-1099-FF05C91685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75561" y="3563018"/>
            <a:ext cx="914400" cy="914400"/>
          </a:xfrm>
          <a:prstGeom prst="rect">
            <a:avLst/>
          </a:prstGeom>
        </p:spPr>
      </p:pic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4A89AA2A-4F39-D42B-4806-A4063381F91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45259" y="3563018"/>
            <a:ext cx="914400" cy="9144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EE2D5CA-5F3A-7EE6-3510-B6BB2F67C6A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16000" y="3848432"/>
            <a:ext cx="6120000" cy="72191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XOR 		XOR		=</a:t>
            </a:r>
          </a:p>
        </p:txBody>
      </p:sp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EA131514-D170-5E08-91F1-871EC201B0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73514" y="3563018"/>
            <a:ext cx="914400" cy="9144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11A37B9-25BB-E546-4318-47C31A7E328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330719" y="5001190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/>
              <a:t>Output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user</a:t>
            </a:r>
            <a:r>
              <a:rPr lang="de-DE" sz="2400" dirty="0"/>
              <a:t> in </a:t>
            </a:r>
            <a:r>
              <a:rPr lang="de-DE" sz="2400" dirty="0" err="1"/>
              <a:t>plaintext</a:t>
            </a:r>
            <a:endParaRPr lang="de-DE" sz="24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DC335BA-DCBA-6796-5882-A5BB239A521E}"/>
              </a:ext>
            </a:extLst>
          </p:cNvPr>
          <p:cNvSpPr/>
          <p:nvPr/>
        </p:nvSpPr>
        <p:spPr>
          <a:xfrm rot="5400000">
            <a:off x="9387987" y="4459503"/>
            <a:ext cx="6289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666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E2C563-9F42-1F98-AE26-898F4513E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18" y="2232011"/>
            <a:ext cx="7344582" cy="292805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616D49A-C831-761C-550D-CE8FB9C97B9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EXISTING 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01B2D-1004-2FF9-8383-7DF7DDD8CC9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4424" y="2709000"/>
            <a:ext cx="3936000" cy="3771000"/>
          </a:xfrm>
        </p:spPr>
        <p:txBody>
          <a:bodyPr/>
          <a:lstStyle/>
          <a:p>
            <a:r>
              <a:rPr lang="en-US" dirty="0"/>
              <a:t>SECRECY Framework</a:t>
            </a:r>
          </a:p>
          <a:p>
            <a:r>
              <a:rPr lang="en-US" dirty="0"/>
              <a:t>In C++</a:t>
            </a:r>
          </a:p>
          <a:p>
            <a:r>
              <a:rPr lang="en-US" dirty="0"/>
              <a:t>Tailored to Cloud Providers</a:t>
            </a:r>
          </a:p>
          <a:p>
            <a:r>
              <a:rPr lang="en-US" dirty="0"/>
              <a:t>No analogue in Rust</a:t>
            </a:r>
          </a:p>
          <a:p>
            <a:r>
              <a:rPr lang="en-US" dirty="0"/>
              <a:t>Slower networking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3EB286-FE8B-83B2-9614-CEAC4B84907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/>
          <a:p>
            <a:fld id="{5F220B2A-7E54-44E7-AFAF-28C0A85E379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AD6D6-94DB-922C-4E1C-AA5D038ED4E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565EE24-F682-E90C-A2DE-8EE680218D8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226072" y="5143457"/>
            <a:ext cx="9207600" cy="1550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Image Source: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nsdi23-liagouris.pdf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0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1F3E-4189-07B4-1F96-91E80CBC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68843-6CCC-6EBD-504F-AB845954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11.09.25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B7A98-C2FA-BCFB-1148-B73976FE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832ACD-0D21-1BCB-CF1B-D0E9AB6ADBA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51BA40C5-AE10-A519-79B1-CD05D4812E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6E425C-9A0B-537C-A57C-CC629A1A4A2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4023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 Analyst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8464B4-F413-1519-CB7A-4566B9991FF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0A83B-8B45-C983-8B8B-B853605E815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8BC25F-54E2-5C8E-88DA-4EA973C7C0C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3FFE5F-2E63-C9FB-1D2B-BC7BCB68D5A4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7749E9-B410-D294-D9C0-9714C554458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5E1F71-9A2C-71FE-DCEC-B43E067F7373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250053-2DE7-1C01-0A54-4E81C736625D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88E760-6DAE-293B-205E-C3FD4532816B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F55FB7-532A-A868-2DBC-55A1299A167F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A27588-E3BA-3F2E-F585-F751D51402C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54022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59200762-90D5-DB4B-9CB6-AAD224BD38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193B6CB8-4AE5-20D4-E483-387675086A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1B4AA2A0-CDCE-3FB5-572C-87D54470C7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40E06F7E-5C92-566A-AA2B-C909D1C80F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pic>
        <p:nvPicPr>
          <p:cNvPr id="8" name="Graphic 7" descr="Doctor male outline">
            <a:extLst>
              <a:ext uri="{FF2B5EF4-FFF2-40B4-BE49-F238E27FC236}">
                <a16:creationId xmlns:a16="http://schemas.microsoft.com/office/drawing/2014/main" id="{F87CD807-D476-2B20-0B1A-4C13B9EE20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663" y="2676495"/>
            <a:ext cx="762266" cy="762266"/>
          </a:xfrm>
          <a:prstGeom prst="rect">
            <a:avLst/>
          </a:prstGeom>
        </p:spPr>
      </p:pic>
      <p:pic>
        <p:nvPicPr>
          <p:cNvPr id="10" name="Graphic 9" descr="Doctor female outline">
            <a:extLst>
              <a:ext uri="{FF2B5EF4-FFF2-40B4-BE49-F238E27FC236}">
                <a16:creationId xmlns:a16="http://schemas.microsoft.com/office/drawing/2014/main" id="{BF1EE0BF-B2AE-9A6E-F563-7CFAACDB8B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64249" y="2681159"/>
            <a:ext cx="762265" cy="76226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CE51A2E-7250-C8CE-DDE1-D3E5D380E5FC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overview</a:t>
            </a:r>
          </a:p>
        </p:txBody>
      </p:sp>
    </p:spTree>
    <p:extLst>
      <p:ext uri="{BB962C8B-B14F-4D97-AF65-F5344CB8AC3E}">
        <p14:creationId xmlns:p14="http://schemas.microsoft.com/office/powerpoint/2010/main" val="17565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C8713-8092-339E-B84C-40318F03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D07D-9EC8-F5FF-202B-387D2540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Data: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52A8-DD17-7D17-F485-D405A2AF4F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9/11/25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BF7E-48A4-E183-67DB-3D837D4DC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25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F908258A-51DF-6AA4-144F-0DF724AB1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944000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226CF8C8-A40B-9CC0-5785-2B79E6723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984413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8A69B36C-3DB9-B846-0AB7-3D39D9D2FE7A}"/>
              </a:ext>
            </a:extLst>
          </p:cNvPr>
          <p:cNvSpPr/>
          <p:nvPr/>
        </p:nvSpPr>
        <p:spPr>
          <a:xfrm>
            <a:off x="-7811603" y="2509227"/>
            <a:ext cx="2160000" cy="1080000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Well can we get statistics ?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51652300-63E7-813D-BD7C-8C8E5E48B6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83C99ED0-A0F0-A6C6-FEAF-3168DC3A74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1857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2F9552C2-7A4A-1D30-6E3A-26B984D602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47830FA0-9299-6F29-E29A-260E8B1120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CB66A056-D297-A5A4-53B0-18B341712A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05E9CC87-20A1-D50C-D081-3A0FC99885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BC875DB-FBDC-C1B3-9C1C-9F976EE40F39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43130D78-EBF6-A9E0-05AD-D39708819D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98CA38-F286-150B-9E40-A72347EF682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96037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of 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Symtomps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01.01.1990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01.02.1991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6F5B6B5-7491-E9B6-2B23-4BFCE7BA87F5}"/>
              </a:ext>
            </a:extLst>
          </p:cNvPr>
          <p:cNvSpPr txBox="1"/>
          <p:nvPr/>
        </p:nvSpPr>
        <p:spPr>
          <a:xfrm rot="5400000">
            <a:off x="5721538" y="4101330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3218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29c0bf15-721a-4bfb-9a89-cf93e8ddfdb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/////wUAwgsAAAAAAAAAAAAAIAD///////////////8AAAD///////////////8DAAAAAgD///////8DAAAAAgD///////8DAAAAAg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tzaQipuD1HjOSUaWytLKkEAAAAAAADAAAAAAADAAAAAwADAAAAAAADAAAABAADAAAAAAADAAAABAADAAEA////////BQAAAAMAEAALEbiGV3pjf0+rwWHoWvWj+gQAAAABAAMAAAACAAMAAAAEAAQABgD///////8FAAAABAAQAAu2K0ym6R5PTpEtxaenrCoQBAAAAAIAAwAAAAMAAwAAAAEAAwAAAAIA////////AwAAAAI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3NpCKm4PUeM5JRpbK0sqQREYXRhAAUAAAAAAk5hbWUADQAAAExpbmtEYXRhTGlzdAAQVmVyc2lvbgAAAAAACUxhc3RXcml0ZQCnfngzmQEAAAABAP////9hAGEAAAAFX2lkABAAAAAEEbiGV3pjf0+rwWHoWvWj+gREYXRhAAUAAAAAAk5hbWUADQAAAExpbmtEYXRhTGlzdAAQVmVyc2lvbgABAAAACUxhc3RXcml0ZQCsfngzmQEAAAACAP////9wAHAAAAAFX2lkABAAAAAEtitMpukeT06RLcWnp6wqEANEYXRhABYAAAACUGVyc29uYWxJZAABAAAAAAACTmFtZQALAAAAUGVyc29uYWxJZAAQVmVyc2lvbgAAAAAACUxhc3RXcml0ZQDSfn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D///////8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88851212"/>
  <p:tag name="EMPOWERCHARTSPROPERTIES_B_LENGTH" val="24576"/>
  <p:tag name="DOWN_MIGRATION_INITIAL_LAYOUT_REQUIRED" val="9.2.99"/>
  <p:tag name="RUNTIME_ID" val="31c4a74c-070c-4818-aba0-ffe9760b42bf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/////wUA5gsAAAAAAAAAAAAAIAD///////////////8AAAD////////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wuvToTpkdBFlc5Rz4h9Pq0EAAAAAAADAAAABAADAAAAAwADAAIA////////BQAAAAMAEAALmcJLjJL8F0yIIvN7rDn9kwQAAAABAAMAAAACAAMAAAABAAMAAAAEAP///////wQABAD///////8FAAAABAAQAAt8mcU5+eMpSagoJ/2PLGj3BAAAAAIAAwAAAAAAAwAAAAIAAwAAAAAAAwAAAAM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9OhOmR0EWVzlHPiH0+rQREYXRhAAUAAAAAAk5hbWUADQAAAExpbmtEYXRhTGlzdAAQVmVyc2lvbgAAAAAACUxhc3RXcml0ZQCJf3gzmQEAAAABAP////9hAGEAAAAFX2lkABAAAAAEmcJLjJL8F0yIIvN7rDn9kwREYXRhAAUAAAAAAk5hbWUADQAAAExpbmtEYXRhTGlzdAAQVmVyc2lvbgABAAAACUxhc3RXcml0ZQCJf3gzmQEAAAACAP////9wAHAAAAAFX2lkABAAAAAEfJnFOfnjKUmoKCf9jyxo9wNEYXRhABYAAAACUGVyc29uYWxJZAABAAAAAAACTmFtZQALAAAAUGVyc29uYWxJZAAQVmVyc2lvbgAAAAAACUxhc3RXcml0ZQCd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886291"/>
  <p:tag name="EMPOWERCHARTSPROPERTIES_B_LENGTH" val="24576"/>
  <p:tag name="DOWN_MIGRATION_INITIAL_LAYOUT_REQUIRED" val="9.2.99"/>
  <p:tag name="RUNTIME_ID" val="60763b65-1a6a-4bdb-8e2b-89248acaa89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/FjlImD51lBvNCmw2Cg7jkEAAAAAAADAAAABAADAAAAAwADAAIA////////BQAAAAMAEAALST5Ikuy6AUSWGOfKrMDd8wQAAAABAAMAAAACAAMAAAABAAMAAAAEAP///////wQAAgD///////8FAAAABAAQAAsuJxkvSjH0RbYHjdC/ffg+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8WOUiYPnWUG80KbDYKDuOQREYXRhAAUAAAAAAk5hbWUADQAAAExpbmtEYXRhTGlzdAAQVmVyc2lvbgABAAAACUxhc3RXcml0ZQC6f3gzmQEAAAABAP////9hAGEAAAAFX2lkABAAAAAEST5Ikuy6AUSWGOfKrMDd8wREYXRhAAUAAAAAAk5hbWUADQAAAExpbmtEYXRhTGlzdAAQVmVyc2lvbgAAAAAACUxhc3RXcml0ZQC6f3gzmQEAAAACAP////9wAHAAAAAFX2lkABAAAAAELicZL0ox9EW2B43Qv334PgNEYXRhABYAAAACUGVyc29uYWxJZAABAAAAAAACTmFtZQALAAAAUGVyc29uYWxJZAAQVmVyc2lvbgAAAAAACUxhc3RXcml0ZQDO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356098"/>
  <p:tag name="EMPOWERCHARTSPROPERTIES_B_LENGTH" val="24576"/>
  <p:tag name="DOWN_MIGRATION_INITIAL_LAYOUT_REQUIRED" val="9.2.99"/>
  <p:tag name="RUNTIME_ID" val="b847d9b5-8017-4ad5-a9a0-4c22c5e6bcc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/////wUACgw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yA1caC9LWZLrR0Fygm1itkEAAAAAAADAAAABAADAAAAAwADAAEA////////BQAAAAMAEAALHKmhxkewkECCDW0e5WJCzgQAAAABAAMAAAACAAMAAAABAAQAAgD///////8FAAAABAAQAAuYbL6d8sI3R785RVZZmwFfBAAAAAIAAwAAAAAAAwAAAAI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DVxoL0tZkutHQXKCbWK2QREYXRhAAUAAAAAAk5hbWUADQAAAExpbmtEYXRhTGlzdAAQVmVyc2lvbgAAAAAACUxhc3RXcml0ZQDof3gzmQEAAAABAP////9hAGEAAAAFX2lkABAAAAAEHKmhxkewkECCDW0e5WJCzgREYXRhAAUAAAAAAk5hbWUADQAAAExpbmtEYXRhTGlzdAAQVmVyc2lvbgABAAAACUxhc3RXcml0ZQDpf3gzmQEAAAACAP////9wAHAAAAAFX2lkABAAAAAEmGy+nfLCN0e/OUVWWZsBXwNEYXRhABYAAAACUGVyc29uYWxJZAABAAAAAAACTmFtZQALAAAAUGVyc29uYWxJZAAQVmVyc2lvbgAAAAAACUxhc3RXcml0ZQABgH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QBAwAAAAQA////////DAAGUGVyc29uYWxJZF8wBAAAAAIABQAAAAMABQAAAAEABQAAAAA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867016"/>
  <p:tag name="EMPOWERCHARTSPROPERTIES_B_LENGTH" val="24576"/>
  <p:tag name="DOWN_MIGRATION_INITIAL_LAYOUT_REQUIRED" val="9.2.99"/>
  <p:tag name="RUNTIME_ID" val="f7b03086-9405-409c-a22e-bc64eaa6999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705</Words>
  <Application>Microsoft Macintosh PowerPoint</Application>
  <PresentationFormat>Widescreen</PresentationFormat>
  <Paragraphs>288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Wingdings</vt:lpstr>
      <vt:lpstr>Template</vt:lpstr>
      <vt:lpstr>Framework for efficient Secure Collaborative Analytics</vt:lpstr>
      <vt:lpstr>Goal: </vt:lpstr>
      <vt:lpstr>Goal: </vt:lpstr>
      <vt:lpstr>Goal: </vt:lpstr>
      <vt:lpstr>Goal: </vt:lpstr>
      <vt:lpstr>Goal of THE framework: </vt:lpstr>
      <vt:lpstr>Goal of THE framework: </vt:lpstr>
      <vt:lpstr>Goal of THE framework: </vt:lpstr>
      <vt:lpstr>Goal of THE framework: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FESCA – SECRECY IN RUST</vt:lpstr>
      <vt:lpstr>FESCA – SECRECY IN RUST</vt:lpstr>
      <vt:lpstr>FESCA – SECRECY IN RUST</vt:lpstr>
      <vt:lpstr>FESCA – SECRECY IN RUST</vt:lpstr>
      <vt:lpstr>EXISTING WORK</vt:lpstr>
      <vt:lpstr>PowerPoint Presentation</vt:lpstr>
      <vt:lpstr>Sharing Data: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2023-05-22T13:03:01Z</dcterms:created>
  <dcterms:modified xsi:type="dcterms:W3CDTF">2025-09-11T13:43:40Z</dcterms:modified>
</cp:coreProperties>
</file>